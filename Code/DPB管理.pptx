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3230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95368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6290769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721861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48331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972875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44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1828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55508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14584E-EF0D-5790-9EA6-78920894AC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117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6263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162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A6C520-59A5-E9C3-603E-C12168475A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0026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3522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391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ED32CF-24F5-5ED2-996F-D4C5D8C64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5906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497228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02521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80140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53709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5751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36390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52583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463727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30624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8308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03129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55202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182364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4761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5949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803036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409460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782137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41830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84301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4127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18779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04847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792258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09114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696841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712558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255721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7764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941026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882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33537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22794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4790141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84773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294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796193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148154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41400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142593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00775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80582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998885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3261902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18121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540550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90578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7864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139905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35477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47111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44890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0006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744464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18876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81408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66488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29157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611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532143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408286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729282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717951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198" y="6245223"/>
            <a:ext cx="2133598" cy="47624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2C60EFBC-96BD-1EBF-51D7-4AE291B6D1A4}" type="slidenum">
              <a:rPr sz="1400"/>
              <a:t/>
            </a:fld>
            <a:endParaRPr sz="1400"/>
          </a:p>
        </p:txBody>
      </p:sp>
      <p:sp>
        <p:nvSpPr>
          <p:cNvPr id="1034664117" name="Shape 1026"/>
          <p:cNvSpPr>
            <a:spLocks noChangeShapeType="1" noGrp="1"/>
          </p:cNvSpPr>
          <p:nvPr>
            <p:ph type="title" idx="10" hasCustomPrompt="1"/>
          </p:nvPr>
        </p:nvSpPr>
        <p:spPr bwMode="auto">
          <a:xfrm>
            <a:off x="730856" y="266431"/>
            <a:ext cx="2660188" cy="426291"/>
          </a:xfrm>
          <a:prstGeom prst="rect">
            <a:avLst/>
          </a:prstGeom>
          <a:noFill/>
        </p:spPr>
        <p:txBody>
          <a:bodyPr/>
          <a:lstStyle>
            <a:lvl1pPr algn="l">
              <a:defRPr sz="1400">
                <a:solidFill>
                  <a:srgbClr val="F79400"/>
                </a:solidFill>
              </a:defRPr>
            </a:lvl1pPr>
            <a:lvl2pPr algn="l">
              <a:defRPr sz="2600">
                <a:solidFill>
                  <a:srgbClr val="F79400"/>
                </a:solidFill>
              </a:defRPr>
            </a:lvl2pPr>
            <a:lvl3pPr algn="l">
              <a:defRPr sz="2600">
                <a:solidFill>
                  <a:srgbClr val="F79400"/>
                </a:solidFill>
              </a:defRPr>
            </a:lvl3pPr>
            <a:lvl4pPr algn="l">
              <a:defRPr sz="2600">
                <a:solidFill>
                  <a:srgbClr val="F79400"/>
                </a:solidFill>
              </a:defRPr>
            </a:lvl4pPr>
            <a:lvl5pPr algn="l">
              <a:defRPr sz="2600">
                <a:solidFill>
                  <a:srgbClr val="F79400"/>
                </a:solidFill>
              </a:defRPr>
            </a:lvl5pPr>
            <a:lvl6pPr algn="l">
              <a:defRPr sz="1200">
                <a:solidFill>
                  <a:srgbClr val="F79400"/>
                </a:solidFill>
              </a:defRPr>
            </a:lvl6pPr>
            <a:lvl7pPr algn="l">
              <a:defRPr sz="1200">
                <a:solidFill>
                  <a:srgbClr val="F79400"/>
                </a:solidFill>
              </a:defRPr>
            </a:lvl7pPr>
            <a:lvl8pPr algn="l">
              <a:defRPr sz="1200">
                <a:solidFill>
                  <a:srgbClr val="F79400"/>
                </a:solidFill>
              </a:defRPr>
            </a:lvl8pPr>
            <a:lvl9pPr algn="l">
              <a:defRPr sz="1200">
                <a:solidFill>
                  <a:srgbClr val="F79400"/>
                </a:solidFill>
              </a:defRPr>
            </a:lvl9pPr>
          </a:lstStyle>
          <a:p>
            <a:pPr>
              <a:defRPr/>
            </a:pPr>
            <a:r>
              <a:rPr lang="en-US"/>
              <a:t>Av1 DPB管理</a:t>
            </a:r>
            <a:endParaRPr/>
          </a:p>
        </p:txBody>
      </p:sp>
      <p:sp>
        <p:nvSpPr>
          <p:cNvPr id="699453709" name="Text Box 1446733672"/>
          <p:cNvSpPr txBox="1"/>
          <p:nvPr/>
        </p:nvSpPr>
        <p:spPr bwMode="auto">
          <a:xfrm>
            <a:off x="730856" y="1152264"/>
            <a:ext cx="8097786" cy="23240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Ubuntu Mono"/>
                <a:ea typeface="Ubuntu Mono"/>
                <a:cs typeface="Ubuntu Mono"/>
              </a:rPr>
              <a:t>以hierarchical</a:t>
            </a:r>
            <a:r>
              <a:rPr lang="en-US" sz="1200">
                <a:latin typeface="Ubuntu Mono"/>
                <a:ea typeface="Ubuntu Mono"/>
                <a:cs typeface="Ubuntu Mono"/>
              </a:rPr>
              <a:t> = 2为例, 时域有三层:0, 1, 2; 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svtav1对于DPB中的图像槽位分类为: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    base层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ea typeface="Ubuntu Mono"/>
                <a:cs typeface="Ubuntu Mono"/>
              </a:rPr>
              <a:t>base2_idx</a:t>
            </a:r>
            <a:r>
              <a:rPr lang="en-US" sz="1200">
                <a:latin typeface="Ubuntu Mono"/>
                <a:ea typeface="Ubuntu Mono"/>
                <a:cs typeface="Ubuntu Mono"/>
              </a:rPr>
              <a:t>:newest_L0</a:t>
            </a:r>
            <a:r>
              <a:rPr lang="en-US" sz="1200">
                <a:latin typeface="Ubuntu Mono"/>
                <a:cs typeface="Ubuntu Mono"/>
              </a:rPr>
              <a:t>(最新的base层图像索引)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cs typeface="Ubuntu Mono"/>
              </a:rPr>
              <a:t>base1_idx</a:t>
            </a:r>
            <a:r>
              <a:rPr lang="en-US" sz="1200">
                <a:latin typeface="Ubuntu Mono"/>
                <a:cs typeface="Ubuntu Mono"/>
              </a:rPr>
              <a:t>:middle_L0</a:t>
            </a:r>
            <a:r>
              <a:rPr lang="en-US" sz="12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(中间/上一个base层图像索引)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cs typeface="Ubuntu Mono"/>
              </a:rPr>
              <a:t>base0_idx</a:t>
            </a:r>
            <a:r>
              <a:rPr lang="en-US" sz="1200">
                <a:latin typeface="Ubuntu Mono"/>
                <a:cs typeface="Ubuntu Mono"/>
              </a:rPr>
              <a:t>:oldest_L0(最旧的base层图像索引)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    layer1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cs typeface="Ubuntu Mono"/>
              </a:rPr>
              <a:t>lay1_0_idx</a:t>
            </a:r>
            <a:r>
              <a:rPr lang="en-US" sz="1200">
                <a:latin typeface="Ubuntu Mono"/>
                <a:cs typeface="Ubuntu Mono"/>
              </a:rPr>
              <a:t>:oldest_L1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cs typeface="Ubuntu Mono"/>
              </a:rPr>
              <a:t>lay1_1_idx</a:t>
            </a:r>
            <a:r>
              <a:rPr lang="en-US" sz="1200">
                <a:latin typeface="Ubuntu Mono"/>
                <a:cs typeface="Ubuntu Mono"/>
              </a:rPr>
              <a:t>:newest_L1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    layer2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cs typeface="Ubuntu Mono"/>
              </a:rPr>
              <a:t>lay2_idx</a:t>
            </a:r>
            <a:r>
              <a:rPr lang="en-US" sz="1200">
                <a:latin typeface="Ubuntu Mono"/>
                <a:cs typeface="Ubuntu Mono"/>
              </a:rPr>
              <a:t>:newest_L2</a:t>
            </a:r>
            <a:endParaRPr lang="en-US" sz="1200">
              <a:latin typeface="Ubuntu Mono"/>
              <a:ea typeface="Ubuntu Mono"/>
              <a:cs typeface="Ubuntu Mono"/>
            </a:endParaRPr>
          </a:p>
        </p:txBody>
      </p:sp>
      <p:sp>
        <p:nvSpPr>
          <p:cNvPr id="768745686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198" y="6245223"/>
            <a:ext cx="2133598" cy="47624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9342704F-D601-63A5-2279-C9CB87DD5FC3}" type="slidenum">
              <a:rPr sz="1400"/>
              <a:t/>
            </a:fld>
            <a:endParaRPr sz="1400"/>
          </a:p>
        </p:txBody>
      </p:sp>
      <p:sp>
        <p:nvSpPr>
          <p:cNvPr id="1232806530" name="Shape 1026"/>
          <p:cNvSpPr>
            <a:spLocks noChangeShapeType="1" noGrp="1"/>
          </p:cNvSpPr>
          <p:nvPr/>
        </p:nvSpPr>
        <p:spPr bwMode="auto">
          <a:xfrm>
            <a:off x="730856" y="266431"/>
            <a:ext cx="2660188" cy="4262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rgbClr val="F79400"/>
                </a:solidFill>
                <a:latin typeface="+mj-lt"/>
                <a:ea typeface="+mj-ea"/>
                <a:cs typeface="+mj-cs"/>
              </a:defRPr>
            </a:lvl1pPr>
            <a:lvl2pPr algn="l">
              <a:defRPr sz="2600">
                <a:solidFill>
                  <a:srgbClr val="F79400"/>
                </a:solidFill>
              </a:defRPr>
            </a:lvl2pPr>
            <a:lvl3pPr algn="l">
              <a:defRPr sz="2600">
                <a:solidFill>
                  <a:srgbClr val="F79400"/>
                </a:solidFill>
              </a:defRPr>
            </a:lvl3pPr>
            <a:lvl4pPr algn="l">
              <a:defRPr sz="2600">
                <a:solidFill>
                  <a:srgbClr val="F79400"/>
                </a:solidFill>
              </a:defRPr>
            </a:lvl4pPr>
            <a:lvl5pPr algn="l">
              <a:defRPr sz="2600">
                <a:solidFill>
                  <a:srgbClr val="F79400"/>
                </a:solidFill>
              </a:defRPr>
            </a:lvl5pPr>
            <a:lvl6pPr algn="l">
              <a:defRPr sz="1200">
                <a:solidFill>
                  <a:srgbClr val="F79400"/>
                </a:solidFill>
              </a:defRPr>
            </a:lvl6pPr>
            <a:lvl7pPr algn="l">
              <a:defRPr sz="1200">
                <a:solidFill>
                  <a:srgbClr val="F79400"/>
                </a:solidFill>
              </a:defRPr>
            </a:lvl7pPr>
            <a:lvl8pPr algn="l">
              <a:defRPr sz="1200">
                <a:solidFill>
                  <a:srgbClr val="F79400"/>
                </a:solidFill>
              </a:defRPr>
            </a:lvl8pPr>
            <a:lvl9pPr algn="l">
              <a:defRPr sz="1200">
                <a:solidFill>
                  <a:srgbClr val="F79400"/>
                </a:solidFill>
              </a:defRPr>
            </a:lvl9pPr>
          </a:lstStyle>
          <a:p>
            <a:pPr>
              <a:defRPr/>
            </a:pPr>
            <a:r>
              <a:rPr lang="en-US"/>
              <a:t>Av1 DPB管理</a:t>
            </a:r>
            <a:endParaRPr/>
          </a:p>
        </p:txBody>
      </p:sp>
      <p:sp>
        <p:nvSpPr>
          <p:cNvPr id="1718670211" name="Text Box 1446733672"/>
          <p:cNvSpPr txBox="1"/>
          <p:nvPr/>
        </p:nvSpPr>
        <p:spPr bwMode="auto">
          <a:xfrm>
            <a:off x="730856" y="1152264"/>
            <a:ext cx="8097786" cy="23240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Ubuntu Mono"/>
                <a:ea typeface="Ubuntu Mono"/>
                <a:cs typeface="Ubuntu Mono"/>
              </a:rPr>
              <a:t>以hierarchical</a:t>
            </a:r>
            <a:r>
              <a:rPr lang="en-US" sz="1200">
                <a:latin typeface="Ubuntu Mono"/>
                <a:ea typeface="Ubuntu Mono"/>
                <a:cs typeface="Ubuntu Mono"/>
              </a:rPr>
              <a:t> = 2为例, 时域有三层:0, 1, 2; 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svtav1对于DPB中的图像槽位分类为: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    base层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ea typeface="Ubuntu Mono"/>
                <a:cs typeface="Ubuntu Mono"/>
              </a:rPr>
              <a:t>base2_idx</a:t>
            </a:r>
            <a:r>
              <a:rPr lang="en-US" sz="1200">
                <a:latin typeface="Ubuntu Mono"/>
                <a:ea typeface="Ubuntu Mono"/>
                <a:cs typeface="Ubuntu Mono"/>
              </a:rPr>
              <a:t>:newest_L0</a:t>
            </a:r>
            <a:r>
              <a:rPr lang="en-US" sz="1200">
                <a:latin typeface="Ubuntu Mono"/>
                <a:cs typeface="Ubuntu Mono"/>
              </a:rPr>
              <a:t>(最新的base层图像索引)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cs typeface="Ubuntu Mono"/>
              </a:rPr>
              <a:t>base1_idx</a:t>
            </a:r>
            <a:r>
              <a:rPr lang="en-US" sz="1200">
                <a:latin typeface="Ubuntu Mono"/>
                <a:cs typeface="Ubuntu Mono"/>
              </a:rPr>
              <a:t>:middle_L0</a:t>
            </a:r>
            <a:r>
              <a:rPr lang="en-US" sz="12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(中间/上一个base层图像索引)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cs typeface="Ubuntu Mono"/>
              </a:rPr>
              <a:t>base0_idx</a:t>
            </a:r>
            <a:r>
              <a:rPr lang="en-US" sz="1200">
                <a:latin typeface="Ubuntu Mono"/>
                <a:cs typeface="Ubuntu Mono"/>
              </a:rPr>
              <a:t>:oldest_L0(最旧的base层图像索引)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    layer1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cs typeface="Ubuntu Mono"/>
              </a:rPr>
              <a:t>lay1_0_idx</a:t>
            </a:r>
            <a:r>
              <a:rPr lang="en-US" sz="1200">
                <a:latin typeface="Ubuntu Mono"/>
                <a:cs typeface="Ubuntu Mono"/>
              </a:rPr>
              <a:t>:oldest_L1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cs typeface="Ubuntu Mono"/>
              </a:rPr>
              <a:t>lay1_1_idx</a:t>
            </a:r>
            <a:r>
              <a:rPr lang="en-US" sz="1200">
                <a:latin typeface="Ubuntu Mono"/>
                <a:cs typeface="Ubuntu Mono"/>
              </a:rPr>
              <a:t>:newest_L1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    layer2</a:t>
            </a:r>
            <a:endParaRPr lang="en-US" sz="12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200">
                <a:latin typeface="Ubuntu Mono"/>
                <a:cs typeface="Ubuntu Mono"/>
              </a:rPr>
              <a:t>	- </a:t>
            </a:r>
            <a:r>
              <a:rPr lang="en-US" sz="1200" b="1">
                <a:latin typeface="Ubuntu Mono"/>
                <a:cs typeface="Ubuntu Mono"/>
              </a:rPr>
              <a:t>lay2_idx</a:t>
            </a:r>
            <a:r>
              <a:rPr lang="en-US" sz="1200">
                <a:latin typeface="Ubuntu Mono"/>
                <a:cs typeface="Ubuntu Mono"/>
              </a:rPr>
              <a:t>:newest_L2</a:t>
            </a:r>
            <a:endParaRPr lang="en-US" sz="1200">
              <a:latin typeface="Ubuntu Mono"/>
              <a:ea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095267" name="Shape 1026"/>
          <p:cNvSpPr>
            <a:spLocks noChangeShapeType="1" noGrp="1"/>
          </p:cNvSpPr>
          <p:nvPr>
            <p:ph type="title"/>
          </p:nvPr>
        </p:nvSpPr>
        <p:spPr bwMode="auto">
          <a:xfrm>
            <a:off x="4514598" y="154318"/>
            <a:ext cx="4636325" cy="751550"/>
          </a:xfrm>
          <a:prstGeom prst="rect">
            <a:avLst/>
          </a:prstGeom>
          <a:noFill/>
        </p:spPr>
        <p:txBody>
          <a:bodyPr/>
          <a:lstStyle>
            <a:lvl1pPr algn="r">
              <a:defRPr sz="2600">
                <a:solidFill>
                  <a:srgbClr val="A16614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>
            <a:pPr>
              <a:defRPr/>
            </a:pPr>
            <a:r>
              <a:rPr lang="en-US"/>
              <a:t>DPB循环管理</a:t>
            </a:r>
            <a:endParaRPr/>
          </a:p>
        </p:txBody>
      </p:sp>
      <p:sp>
        <p:nvSpPr>
          <p:cNvPr id="1999932817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3"/>
            <a:ext cx="2133598" cy="476248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5ECA3BD9-F57F-EF57-BF55-69AF69EE461C}" type="datetime1">
              <a:rPr lang="en-US"/>
              <a:t/>
            </a:fld>
            <a:endParaRPr lang="en-US"/>
          </a:p>
        </p:txBody>
      </p:sp>
      <p:sp>
        <p:nvSpPr>
          <p:cNvPr id="1823324125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198" y="6245223"/>
            <a:ext cx="2133598" cy="47624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58D00ACB-2FE8-E5ED-8CAF-7AA2E287EB24}" type="slidenum">
              <a:rPr sz="1400"/>
              <a:t/>
            </a:fld>
            <a:endParaRPr sz="1400"/>
          </a:p>
        </p:txBody>
      </p:sp>
      <p:sp>
        <p:nvSpPr>
          <p:cNvPr id="208422757" name="Shape 1026"/>
          <p:cNvSpPr>
            <a:spLocks noChangeShapeType="1" noGrp="1"/>
          </p:cNvSpPr>
          <p:nvPr/>
        </p:nvSpPr>
        <p:spPr bwMode="auto">
          <a:xfrm>
            <a:off x="730856" y="266431"/>
            <a:ext cx="2660188" cy="42629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rgbClr val="F79400"/>
                </a:solidFill>
                <a:latin typeface="+mj-lt"/>
                <a:ea typeface="+mj-ea"/>
                <a:cs typeface="+mj-cs"/>
              </a:defRPr>
            </a:lvl1pPr>
            <a:lvl2pPr algn="l">
              <a:defRPr sz="2600">
                <a:solidFill>
                  <a:srgbClr val="F79400"/>
                </a:solidFill>
              </a:defRPr>
            </a:lvl2pPr>
            <a:lvl3pPr algn="l">
              <a:defRPr sz="2600">
                <a:solidFill>
                  <a:srgbClr val="F79400"/>
                </a:solidFill>
              </a:defRPr>
            </a:lvl3pPr>
            <a:lvl4pPr algn="l">
              <a:defRPr sz="2600">
                <a:solidFill>
                  <a:srgbClr val="F79400"/>
                </a:solidFill>
              </a:defRPr>
            </a:lvl4pPr>
            <a:lvl5pPr algn="l">
              <a:defRPr sz="2600">
                <a:solidFill>
                  <a:srgbClr val="F79400"/>
                </a:solidFill>
              </a:defRPr>
            </a:lvl5pPr>
            <a:lvl6pPr algn="l">
              <a:defRPr sz="1200">
                <a:solidFill>
                  <a:srgbClr val="F79400"/>
                </a:solidFill>
              </a:defRPr>
            </a:lvl6pPr>
            <a:lvl7pPr algn="l">
              <a:defRPr sz="1200">
                <a:solidFill>
                  <a:srgbClr val="F79400"/>
                </a:solidFill>
              </a:defRPr>
            </a:lvl7pPr>
            <a:lvl8pPr algn="l">
              <a:defRPr sz="1200">
                <a:solidFill>
                  <a:srgbClr val="F79400"/>
                </a:solidFill>
              </a:defRPr>
            </a:lvl8pPr>
            <a:lvl9pPr algn="l">
              <a:defRPr sz="1200">
                <a:solidFill>
                  <a:srgbClr val="F79400"/>
                </a:solidFill>
              </a:defRPr>
            </a:lvl9pPr>
          </a:lstStyle>
          <a:p>
            <a:pPr>
              <a:defRPr/>
            </a:pPr>
            <a:r>
              <a:rPr lang="en-US"/>
              <a:t>Av1 DPB管理</a:t>
            </a:r>
            <a:endParaRPr/>
          </a:p>
        </p:txBody>
      </p:sp>
      <p:sp>
        <p:nvSpPr>
          <p:cNvPr id="1787422419" name="Text Box 1446733672"/>
          <p:cNvSpPr txBox="1"/>
          <p:nvPr/>
        </p:nvSpPr>
        <p:spPr bwMode="auto">
          <a:xfrm flipH="0" flipV="0">
            <a:off x="511490" y="1002827"/>
            <a:ext cx="81453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lay0_toggle:0::: {base0_idx, base1_idx, base2_idx} = {0, 1, 2}</a:t>
            </a:r>
            <a:endParaRPr lang="en-US" sz="12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lay0_toggle:1</a:t>
            </a:r>
            <a:r>
              <a:rPr lang="en-US" sz="12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::: {base0_idx, base1_idx, base2_idx} = {1, 2, 0}</a:t>
            </a:r>
            <a:endParaRPr lang="en-US" sz="12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lay0_toggle:?</a:t>
            </a:r>
            <a:r>
              <a:rPr lang="en-US" sz="12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::: {base0_idx, base1_idx, base2_idx} = {2, 0, 1}</a:t>
            </a:r>
            <a:endParaRPr sz="1200">
              <a:latin typeface="Ubuntu Mono"/>
              <a:ea typeface="Ubuntu Mono"/>
              <a:cs typeface="Ubuntu Mono"/>
            </a:endParaRPr>
          </a:p>
        </p:txBody>
      </p:sp>
      <p:grpSp>
        <p:nvGrpSpPr>
          <p:cNvPr id="2003227986" name=""/>
          <p:cNvGrpSpPr/>
          <p:nvPr/>
        </p:nvGrpSpPr>
        <p:grpSpPr bwMode="auto">
          <a:xfrm>
            <a:off x="2214698" y="1881102"/>
            <a:ext cx="1149275" cy="1990806"/>
            <a:chOff x="0" y="0"/>
            <a:chExt cx="1149275" cy="1990806"/>
          </a:xfrm>
        </p:grpSpPr>
        <p:sp>
          <p:nvSpPr>
            <p:cNvPr id="2046368279" name=""/>
            <p:cNvSpPr/>
            <p:nvPr/>
          </p:nvSpPr>
          <p:spPr bwMode="auto">
            <a:xfrm rot="0" flipH="0" flipV="0">
              <a:off x="0" y="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Base0</a:t>
              </a: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(old)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542888381" name=""/>
            <p:cNvSpPr/>
            <p:nvPr/>
          </p:nvSpPr>
          <p:spPr bwMode="auto">
            <a:xfrm rot="0" flipH="0" flipV="0">
              <a:off x="0" y="24885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Base1</a:t>
              </a: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(mid)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820951285" name=""/>
            <p:cNvSpPr/>
            <p:nvPr/>
          </p:nvSpPr>
          <p:spPr bwMode="auto">
            <a:xfrm rot="0" flipH="0" flipV="0">
              <a:off x="0" y="49770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Base2(new)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935094475" name=""/>
            <p:cNvSpPr/>
            <p:nvPr/>
          </p:nvSpPr>
          <p:spPr bwMode="auto">
            <a:xfrm rot="0" flipH="0" flipV="0">
              <a:off x="0" y="746551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sz="1200">
                  <a:solidFill>
                    <a:schemeClr val="tx1"/>
                  </a:solidFill>
                  <a:latin typeface="Ubuntu Mono"/>
                  <a:cs typeface="Ubuntu Mono"/>
                </a:rPr>
                <a:t>Lay</a:t>
              </a: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10(old)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325594961" name=""/>
            <p:cNvSpPr/>
            <p:nvPr/>
          </p:nvSpPr>
          <p:spPr bwMode="auto">
            <a:xfrm rot="0" flipH="0" flipV="0">
              <a:off x="0" y="995402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Lay11(new)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962470760" name=""/>
            <p:cNvSpPr/>
            <p:nvPr/>
          </p:nvSpPr>
          <p:spPr bwMode="auto">
            <a:xfrm rot="0" flipH="0" flipV="0">
              <a:off x="0" y="124425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sz="1200">
                  <a:solidFill>
                    <a:schemeClr val="tx1"/>
                  </a:solidFill>
                  <a:latin typeface="Ubuntu Mono"/>
                  <a:cs typeface="Ubuntu Mono"/>
                </a:rPr>
                <a:t>Lay</a:t>
              </a: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2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601547979" name=""/>
            <p:cNvSpPr/>
            <p:nvPr/>
          </p:nvSpPr>
          <p:spPr bwMode="auto">
            <a:xfrm rot="0" flipH="0" flipV="0">
              <a:off x="0" y="149310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162905438" name=""/>
            <p:cNvSpPr/>
            <p:nvPr/>
          </p:nvSpPr>
          <p:spPr bwMode="auto">
            <a:xfrm rot="0" flipH="0" flipV="0">
              <a:off x="0" y="1741955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</p:grpSp>
      <p:grpSp>
        <p:nvGrpSpPr>
          <p:cNvPr id="1848574253" name=""/>
          <p:cNvGrpSpPr/>
          <p:nvPr/>
        </p:nvGrpSpPr>
        <p:grpSpPr bwMode="auto">
          <a:xfrm>
            <a:off x="3612033" y="1883107"/>
            <a:ext cx="1149275" cy="1990806"/>
            <a:chOff x="0" y="0"/>
            <a:chExt cx="1149275" cy="1990806"/>
          </a:xfrm>
        </p:grpSpPr>
        <p:sp>
          <p:nvSpPr>
            <p:cNvPr id="309345250" name=""/>
            <p:cNvSpPr/>
            <p:nvPr/>
          </p:nvSpPr>
          <p:spPr bwMode="auto">
            <a:xfrm rot="0" flipH="0" flipV="0">
              <a:off x="0" y="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Base2</a:t>
              </a: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(new)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2109574964" name=""/>
            <p:cNvSpPr/>
            <p:nvPr/>
          </p:nvSpPr>
          <p:spPr bwMode="auto">
            <a:xfrm rot="0" flipH="0" flipV="0">
              <a:off x="0" y="24885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Base0</a:t>
              </a: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(old)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736739650" name=""/>
            <p:cNvSpPr/>
            <p:nvPr/>
          </p:nvSpPr>
          <p:spPr bwMode="auto">
            <a:xfrm rot="0" flipH="0" flipV="0">
              <a:off x="0" y="49770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Base1</a:t>
              </a: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(mid)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539481691" name=""/>
            <p:cNvSpPr/>
            <p:nvPr/>
          </p:nvSpPr>
          <p:spPr bwMode="auto">
            <a:xfrm rot="0" flipH="0" flipV="0">
              <a:off x="0" y="746551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zh-CN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Lay</a:t>
              </a: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11(new)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611821356" name=""/>
            <p:cNvSpPr/>
            <p:nvPr/>
          </p:nvSpPr>
          <p:spPr bwMode="auto">
            <a:xfrm rot="0" flipH="0" flipV="0">
              <a:off x="0" y="995402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Lay10(old)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2065914413" name=""/>
            <p:cNvSpPr/>
            <p:nvPr/>
          </p:nvSpPr>
          <p:spPr bwMode="auto">
            <a:xfrm rot="0" flipH="0" flipV="0">
              <a:off x="0" y="124425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zh-CN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Lay</a:t>
              </a: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2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364709771" name=""/>
            <p:cNvSpPr/>
            <p:nvPr/>
          </p:nvSpPr>
          <p:spPr bwMode="auto">
            <a:xfrm rot="0" flipH="0" flipV="0">
              <a:off x="0" y="149310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893534596" name=""/>
            <p:cNvSpPr/>
            <p:nvPr/>
          </p:nvSpPr>
          <p:spPr bwMode="auto">
            <a:xfrm rot="0" flipH="0" flipV="0">
              <a:off x="0" y="1741955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</p:grpSp>
      <p:grpSp>
        <p:nvGrpSpPr>
          <p:cNvPr id="324367291" name=""/>
          <p:cNvGrpSpPr/>
          <p:nvPr/>
        </p:nvGrpSpPr>
        <p:grpSpPr bwMode="auto">
          <a:xfrm>
            <a:off x="5076208" y="1893467"/>
            <a:ext cx="1149275" cy="1990806"/>
            <a:chOff x="0" y="0"/>
            <a:chExt cx="1149275" cy="1990806"/>
          </a:xfrm>
        </p:grpSpPr>
        <p:sp>
          <p:nvSpPr>
            <p:cNvPr id="133431198" name=""/>
            <p:cNvSpPr/>
            <p:nvPr/>
          </p:nvSpPr>
          <p:spPr bwMode="auto">
            <a:xfrm rot="0" flipH="0" flipV="0">
              <a:off x="0" y="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Base1</a:t>
              </a: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(mid)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504855566" name=""/>
            <p:cNvSpPr/>
            <p:nvPr/>
          </p:nvSpPr>
          <p:spPr bwMode="auto">
            <a:xfrm rot="0" flipH="0" flipV="0">
              <a:off x="0" y="24885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Base2</a:t>
              </a: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(new)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385701906" name=""/>
            <p:cNvSpPr/>
            <p:nvPr/>
          </p:nvSpPr>
          <p:spPr bwMode="auto">
            <a:xfrm rot="0" flipH="0" flipV="0">
              <a:off x="0" y="49770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Base0</a:t>
              </a: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(old)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808933617" name=""/>
            <p:cNvSpPr/>
            <p:nvPr/>
          </p:nvSpPr>
          <p:spPr bwMode="auto">
            <a:xfrm rot="0" flipH="0" flipV="0">
              <a:off x="0" y="746551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zh-CN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Lay</a:t>
              </a: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10(old)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2000649131" name=""/>
            <p:cNvSpPr/>
            <p:nvPr/>
          </p:nvSpPr>
          <p:spPr bwMode="auto">
            <a:xfrm rot="0" flipH="0" flipV="0">
              <a:off x="0" y="995402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Lay11(new)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755383007" name=""/>
            <p:cNvSpPr/>
            <p:nvPr/>
          </p:nvSpPr>
          <p:spPr bwMode="auto">
            <a:xfrm rot="0" flipH="0" flipV="0">
              <a:off x="0" y="124425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zh-CN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Lay</a:t>
              </a: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2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409063156" name=""/>
            <p:cNvSpPr/>
            <p:nvPr/>
          </p:nvSpPr>
          <p:spPr bwMode="auto">
            <a:xfrm rot="0" flipH="0" flipV="0">
              <a:off x="0" y="149310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924013299" name=""/>
            <p:cNvSpPr/>
            <p:nvPr/>
          </p:nvSpPr>
          <p:spPr bwMode="auto">
            <a:xfrm rot="0" flipH="0" flipV="0">
              <a:off x="0" y="1741955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</p:grpSp>
      <p:sp>
        <p:nvSpPr>
          <p:cNvPr id="840513785" name=""/>
          <p:cNvSpPr txBox="1"/>
          <p:nvPr/>
        </p:nvSpPr>
        <p:spPr bwMode="auto">
          <a:xfrm rot="0" flipH="0" flipV="0">
            <a:off x="511490" y="3982241"/>
            <a:ext cx="6321627" cy="396599"/>
          </a:xfrm>
          <a:prstGeom prst="rect">
            <a:avLst/>
          </a:prstGeom>
          <a:solidFill>
            <a:schemeClr val="accent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lay0_toggle</a:t>
            </a:r>
            <a:r>
              <a:rPr lang="en-US" sz="1200" b="0" i="0" u="none" strike="noStrike" cap="none" spc="0">
                <a:solidFill>
                  <a:schemeClr val="dk1"/>
                </a:solidFill>
                <a:latin typeface="Times New Roman"/>
                <a:cs typeface="Times New Roman"/>
              </a:rPr>
              <a:t>:  </a:t>
            </a:r>
            <a:r>
              <a:rPr lang="en-US" sz="2000" b="0" i="0" u="none" strike="noStrike" cap="none" spc="0">
                <a:solidFill>
                  <a:schemeClr val="dk1"/>
                </a:solidFill>
                <a:latin typeface="Times New Roman"/>
                <a:cs typeface="Times New Roman"/>
              </a:rPr>
              <a:t>        0                    1                      2        </a:t>
            </a:r>
            <a:endParaRPr lang="en-US" sz="2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cxnSp>
        <p:nvCxnSpPr>
          <p:cNvPr id="427402315" name=""/>
          <p:cNvCxnSpPr/>
          <p:nvPr/>
        </p:nvCxnSpPr>
        <p:spPr bwMode="auto">
          <a:xfrm rot="0" flipH="0" flipV="0">
            <a:off x="3391047" y="2870946"/>
            <a:ext cx="250655" cy="0"/>
          </a:xfrm>
          <a:prstGeom prst="line">
            <a:avLst/>
          </a:prstGeom>
          <a:ln w="12699" cap="flat" cmpd="sng" algn="ctr">
            <a:solidFill>
              <a:srgbClr val="FF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405708" name=""/>
          <p:cNvCxnSpPr/>
          <p:nvPr/>
        </p:nvCxnSpPr>
        <p:spPr bwMode="auto">
          <a:xfrm rot="0" flipH="0" flipV="1">
            <a:off x="4776258" y="2871306"/>
            <a:ext cx="327654" cy="0"/>
          </a:xfrm>
          <a:prstGeom prst="line">
            <a:avLst/>
          </a:prstGeom>
          <a:ln w="12699" cap="flat" cmpd="sng" algn="ctr">
            <a:solidFill>
              <a:srgbClr val="FF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237061" name=""/>
          <p:cNvCxnSpPr/>
          <p:nvPr/>
        </p:nvCxnSpPr>
        <p:spPr bwMode="auto">
          <a:xfrm rot="10799956" flipH="0" flipV="1">
            <a:off x="2213208" y="2893629"/>
            <a:ext cx="4013789" cy="103744"/>
          </a:xfrm>
          <a:prstGeom prst="curvedConnector5">
            <a:avLst>
              <a:gd name="adj1" fmla="val -13842"/>
              <a:gd name="adj2" fmla="val -1139978"/>
              <a:gd name="adj3" fmla="val 125574"/>
            </a:avLst>
          </a:prstGeom>
          <a:ln w="6349" cap="flat" cmpd="sng" algn="ctr">
            <a:solidFill>
              <a:srgbClr val="FF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90844" name=""/>
          <p:cNvSpPr txBox="1"/>
          <p:nvPr/>
        </p:nvSpPr>
        <p:spPr bwMode="auto">
          <a:xfrm rot="0" flipH="0" flipV="0">
            <a:off x="511490" y="4367881"/>
            <a:ext cx="6322707" cy="396599"/>
          </a:xfrm>
          <a:prstGeom prst="rect">
            <a:avLst/>
          </a:prstGeom>
          <a:solidFill>
            <a:schemeClr val="accent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lay1_toggle</a:t>
            </a:r>
            <a:r>
              <a:rPr lang="en-US" sz="1200" b="0" i="0" u="none" strike="noStrike" cap="none" spc="0">
                <a:solidFill>
                  <a:schemeClr val="dk1"/>
                </a:solidFill>
                <a:latin typeface="Times New Roman"/>
                <a:cs typeface="Times New Roman"/>
              </a:rPr>
              <a:t>:  </a:t>
            </a:r>
            <a:r>
              <a:rPr lang="en-US" sz="2000" b="0" i="0" u="none" strike="noStrike" cap="none" spc="0">
                <a:solidFill>
                  <a:schemeClr val="dk1"/>
                </a:solidFill>
                <a:latin typeface="Times New Roman"/>
                <a:cs typeface="Times New Roman"/>
              </a:rPr>
              <a:t>        0                    1                      0        </a:t>
            </a:r>
            <a:endParaRPr lang="en-US" sz="2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949814691" name=""/>
          <p:cNvSpPr/>
          <p:nvPr/>
        </p:nvSpPr>
        <p:spPr bwMode="auto">
          <a:xfrm rot="0" flipH="0" flipV="0">
            <a:off x="2060951" y="1992312"/>
            <a:ext cx="55561" cy="539748"/>
          </a:xfrm>
          <a:prstGeom prst="lef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3475451" name="Text Box 1446733672"/>
          <p:cNvSpPr txBox="1"/>
          <p:nvPr/>
        </p:nvSpPr>
        <p:spPr bwMode="auto">
          <a:xfrm flipH="0" flipV="0">
            <a:off x="511490" y="2066729"/>
            <a:ext cx="1417623" cy="3739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base层槽位</a:t>
            </a:r>
            <a:endParaRPr/>
          </a:p>
        </p:txBody>
      </p:sp>
      <p:sp>
        <p:nvSpPr>
          <p:cNvPr id="1633697176" name=""/>
          <p:cNvSpPr/>
          <p:nvPr/>
        </p:nvSpPr>
        <p:spPr bwMode="auto">
          <a:xfrm rot="0" flipH="0" flipV="0">
            <a:off x="2060951" y="2727499"/>
            <a:ext cx="55560" cy="269875"/>
          </a:xfrm>
          <a:prstGeom prst="lef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1223839" name="Text Box 1446733672"/>
          <p:cNvSpPr txBox="1"/>
          <p:nvPr/>
        </p:nvSpPr>
        <p:spPr bwMode="auto">
          <a:xfrm flipH="0" flipV="0">
            <a:off x="511490" y="2610042"/>
            <a:ext cx="1421942" cy="3739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lay1层槽位</a:t>
            </a:r>
            <a:endParaRPr/>
          </a:p>
        </p:txBody>
      </p:sp>
      <p:sp>
        <p:nvSpPr>
          <p:cNvPr id="781830069" name="Text Box 1446733672"/>
          <p:cNvSpPr txBox="1"/>
          <p:nvPr/>
        </p:nvSpPr>
        <p:spPr bwMode="auto">
          <a:xfrm flipH="0" flipV="0">
            <a:off x="1962261" y="326998"/>
            <a:ext cx="14295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400" i="1">
                <a:solidFill>
                  <a:srgbClr val="FF0000"/>
                </a:solidFill>
                <a:latin typeface="Ubuntu Mono"/>
                <a:ea typeface="Ubuntu Mono"/>
                <a:cs typeface="Ubuntu Mono"/>
              </a:rPr>
              <a:t>hier_lv = 2</a:t>
            </a:r>
            <a:endParaRPr sz="1400" i="1">
              <a:solidFill>
                <a:srgbClr val="FF0000"/>
              </a:solidFill>
              <a:latin typeface="Ubuntu Mono"/>
              <a:cs typeface="Ubuntu Mono"/>
            </a:endParaRPr>
          </a:p>
        </p:txBody>
      </p:sp>
      <p:sp>
        <p:nvSpPr>
          <p:cNvPr id="653917471" name="Text Box 1446733672"/>
          <p:cNvSpPr txBox="1"/>
          <p:nvPr/>
        </p:nvSpPr>
        <p:spPr bwMode="auto">
          <a:xfrm flipH="0" flipV="0">
            <a:off x="254480" y="5174108"/>
            <a:ext cx="8264101" cy="28096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这里DPB的状态仅为示意, 实际DPB中base层槽位与lay1槽位并不一定与图像完全一致</a:t>
            </a:r>
            <a:endParaRPr sz="1200">
              <a:latin typeface="Ubuntu Mono"/>
              <a:ea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453107" name="Shape 1026"/>
          <p:cNvSpPr>
            <a:spLocks noChangeShapeType="1" noGrp="1"/>
          </p:cNvSpPr>
          <p:nvPr>
            <p:ph type="title"/>
          </p:nvPr>
        </p:nvSpPr>
        <p:spPr bwMode="auto">
          <a:xfrm>
            <a:off x="4514598" y="154318"/>
            <a:ext cx="4636325" cy="751550"/>
          </a:xfrm>
          <a:prstGeom prst="rect">
            <a:avLst/>
          </a:prstGeom>
          <a:noFill/>
        </p:spPr>
        <p:txBody>
          <a:bodyPr/>
          <a:lstStyle>
            <a:lvl1pPr algn="r">
              <a:defRPr sz="2600">
                <a:solidFill>
                  <a:srgbClr val="A16614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>
            <a:pPr>
              <a:defRPr/>
            </a:pPr>
            <a:r>
              <a:rPr lang="zh-CN" sz="1600" b="0" i="0" u="none" strike="noStrike" cap="none" spc="0">
                <a:solidFill>
                  <a:srgbClr val="A16614"/>
                </a:solidFill>
                <a:latin typeface="Ubuntu Mono"/>
                <a:ea typeface="Ubuntu Mono"/>
                <a:cs typeface="Ubuntu Mono"/>
              </a:rPr>
              <a:t>hier</a:t>
            </a:r>
            <a:r>
              <a:rPr lang="en-US" sz="1600" b="0" i="0" u="none" strike="noStrike" cap="none" spc="0">
                <a:solidFill>
                  <a:srgbClr val="A16614"/>
                </a:solidFill>
                <a:latin typeface="Ubuntu Mono"/>
                <a:ea typeface="Ubuntu Mono"/>
                <a:cs typeface="Ubuntu Mono"/>
              </a:rPr>
              <a:t>=2时</a:t>
            </a:r>
            <a:r>
              <a:rPr lang="zh-CN" sz="1600" b="0" i="0" u="none" strike="noStrike" cap="none" spc="0">
                <a:solidFill>
                  <a:schemeClr val="dk1"/>
                </a:solidFill>
                <a:latin typeface="Arial"/>
                <a:ea typeface="SimSun"/>
                <a:cs typeface="Arial"/>
              </a:rPr>
              <a:t>默认</a:t>
            </a:r>
            <a:r>
              <a:rPr lang="en-US" sz="1600" b="0" i="0" u="none" strike="noStrike" cap="none" spc="0">
                <a:solidFill>
                  <a:srgbClr val="A16614"/>
                </a:solidFill>
                <a:latin typeface="Ubuntu Mono"/>
                <a:ea typeface="Ubuntu Mono"/>
                <a:cs typeface="Ubuntu Mono"/>
              </a:rPr>
              <a:t>的时域结构</a:t>
            </a:r>
            <a:endParaRPr sz="1600"/>
          </a:p>
        </p:txBody>
      </p:sp>
      <p:sp>
        <p:nvSpPr>
          <p:cNvPr id="28296277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3"/>
            <a:ext cx="2133598" cy="476248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81133A7A-975E-63BC-96CA-40A879CD9905}" type="datetime1">
              <a:rPr lang="en-US"/>
              <a:t/>
            </a:fld>
            <a:endParaRPr lang="en-US"/>
          </a:p>
        </p:txBody>
      </p:sp>
      <p:sp>
        <p:nvSpPr>
          <p:cNvPr id="550765864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198" y="6245223"/>
            <a:ext cx="2133598" cy="47624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39E9F0C-A8D7-9A70-7047-D56614C2DB89}" type="slidenum">
              <a:rPr sz="1400"/>
              <a:t/>
            </a:fld>
            <a:endParaRPr sz="1400"/>
          </a:p>
        </p:txBody>
      </p:sp>
      <p:sp>
        <p:nvSpPr>
          <p:cNvPr id="1869069889" name="Shape 1026"/>
          <p:cNvSpPr>
            <a:spLocks noChangeShapeType="1" noGrp="1"/>
          </p:cNvSpPr>
          <p:nvPr/>
        </p:nvSpPr>
        <p:spPr bwMode="auto">
          <a:xfrm>
            <a:off x="730856" y="266431"/>
            <a:ext cx="2660188" cy="42629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rgbClr val="F79400"/>
                </a:solidFill>
                <a:latin typeface="+mj-lt"/>
                <a:ea typeface="+mj-ea"/>
                <a:cs typeface="+mj-cs"/>
              </a:defRPr>
            </a:lvl1pPr>
            <a:lvl2pPr algn="l">
              <a:defRPr sz="2600">
                <a:solidFill>
                  <a:srgbClr val="F79400"/>
                </a:solidFill>
              </a:defRPr>
            </a:lvl2pPr>
            <a:lvl3pPr algn="l">
              <a:defRPr sz="2600">
                <a:solidFill>
                  <a:srgbClr val="F79400"/>
                </a:solidFill>
              </a:defRPr>
            </a:lvl3pPr>
            <a:lvl4pPr algn="l">
              <a:defRPr sz="2600">
                <a:solidFill>
                  <a:srgbClr val="F79400"/>
                </a:solidFill>
              </a:defRPr>
            </a:lvl4pPr>
            <a:lvl5pPr algn="l">
              <a:defRPr sz="2600">
                <a:solidFill>
                  <a:srgbClr val="F79400"/>
                </a:solidFill>
              </a:defRPr>
            </a:lvl5pPr>
            <a:lvl6pPr algn="l">
              <a:defRPr sz="1200">
                <a:solidFill>
                  <a:srgbClr val="F79400"/>
                </a:solidFill>
              </a:defRPr>
            </a:lvl6pPr>
            <a:lvl7pPr algn="l">
              <a:defRPr sz="1200">
                <a:solidFill>
                  <a:srgbClr val="F79400"/>
                </a:solidFill>
              </a:defRPr>
            </a:lvl7pPr>
            <a:lvl8pPr algn="l">
              <a:defRPr sz="1200">
                <a:solidFill>
                  <a:srgbClr val="F79400"/>
                </a:solidFill>
              </a:defRPr>
            </a:lvl8pPr>
            <a:lvl9pPr algn="l">
              <a:defRPr sz="1200">
                <a:solidFill>
                  <a:srgbClr val="F79400"/>
                </a:solidFill>
              </a:defRPr>
            </a:lvl9pPr>
          </a:lstStyle>
          <a:p>
            <a:pPr>
              <a:defRPr/>
            </a:pPr>
            <a:r>
              <a:rPr lang="en-US"/>
              <a:t>Av1 DPB管理</a:t>
            </a:r>
            <a:endParaRPr/>
          </a:p>
        </p:txBody>
      </p:sp>
      <p:sp>
        <p:nvSpPr>
          <p:cNvPr id="1899998152" name="Text Box 1446733672"/>
          <p:cNvSpPr txBox="1"/>
          <p:nvPr/>
        </p:nvSpPr>
        <p:spPr bwMode="auto">
          <a:xfrm flipH="0" flipV="0">
            <a:off x="1962261" y="326997"/>
            <a:ext cx="142950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400" i="1">
                <a:solidFill>
                  <a:srgbClr val="FF0000"/>
                </a:solidFill>
                <a:latin typeface="Ubuntu Mono"/>
                <a:ea typeface="Ubuntu Mono"/>
                <a:cs typeface="Ubuntu Mono"/>
              </a:rPr>
              <a:t>hier_lv = 2</a:t>
            </a:r>
            <a:endParaRPr sz="1400" i="1">
              <a:solidFill>
                <a:srgbClr val="FF0000"/>
              </a:solidFill>
              <a:latin typeface="Ubuntu Mono"/>
              <a:cs typeface="Ubuntu Mono"/>
            </a:endParaRPr>
          </a:p>
        </p:txBody>
      </p:sp>
      <p:grpSp>
        <p:nvGrpSpPr>
          <p:cNvPr id="1571086806" name=""/>
          <p:cNvGrpSpPr/>
          <p:nvPr/>
        </p:nvGrpSpPr>
        <p:grpSpPr bwMode="auto">
          <a:xfrm>
            <a:off x="794768" y="1161397"/>
            <a:ext cx="3184522" cy="2334159"/>
            <a:chOff x="0" y="0"/>
            <a:chExt cx="3184522" cy="2334159"/>
          </a:xfrm>
        </p:grpSpPr>
        <p:sp>
          <p:nvSpPr>
            <p:cNvPr id="855764659" name="Parallelogram 276439405"/>
            <p:cNvSpPr/>
            <p:nvPr/>
          </p:nvSpPr>
          <p:spPr bwMode="auto">
            <a:xfrm rot="20145058" flipH="0" flipV="0">
              <a:off x="0" y="1627720"/>
              <a:ext cx="682622" cy="706436"/>
            </a:xfrm>
            <a:prstGeom prst="parallelogram">
              <a:avLst>
                <a:gd name="adj" fmla="val 48056"/>
              </a:avLst>
            </a:prstGeom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/>
                <a:t>0</a:t>
              </a:r>
              <a:endParaRPr/>
            </a:p>
          </p:txBody>
        </p:sp>
        <p:sp>
          <p:nvSpPr>
            <p:cNvPr id="5869224" name="Parallelogram 276439405"/>
            <p:cNvSpPr/>
            <p:nvPr/>
          </p:nvSpPr>
          <p:spPr bwMode="auto">
            <a:xfrm rot="20145058" flipH="0" flipV="0">
              <a:off x="2501898" y="1627722"/>
              <a:ext cx="682622" cy="706435"/>
            </a:xfrm>
            <a:prstGeom prst="parallelogram">
              <a:avLst>
                <a:gd name="adj" fmla="val 48056"/>
              </a:avLst>
            </a:prstGeom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/>
                <a:t>1</a:t>
              </a:r>
              <a:endParaRPr/>
            </a:p>
          </p:txBody>
        </p:sp>
        <p:sp>
          <p:nvSpPr>
            <p:cNvPr id="433436433" name="Parallelogram 276439405"/>
            <p:cNvSpPr/>
            <p:nvPr/>
          </p:nvSpPr>
          <p:spPr bwMode="auto">
            <a:xfrm rot="20145058" flipH="0" flipV="0">
              <a:off x="1250949" y="855661"/>
              <a:ext cx="682621" cy="706435"/>
            </a:xfrm>
            <a:prstGeom prst="parallelogram">
              <a:avLst>
                <a:gd name="adj" fmla="val 48056"/>
              </a:avLst>
            </a:prstGeom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/>
                <a:t>2</a:t>
              </a:r>
              <a:endParaRPr/>
            </a:p>
          </p:txBody>
        </p:sp>
        <p:sp>
          <p:nvSpPr>
            <p:cNvPr id="1088608938" name="Parallelogram 276439405"/>
            <p:cNvSpPr/>
            <p:nvPr/>
          </p:nvSpPr>
          <p:spPr bwMode="auto">
            <a:xfrm rot="20145058" flipH="0" flipV="0">
              <a:off x="625475" y="0"/>
              <a:ext cx="682621" cy="706435"/>
            </a:xfrm>
            <a:prstGeom prst="parallelogram">
              <a:avLst>
                <a:gd name="adj" fmla="val 48056"/>
              </a:avLst>
            </a:prstGeom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/>
                <a:t>3</a:t>
              </a:r>
              <a:endParaRPr/>
            </a:p>
          </p:txBody>
        </p:sp>
        <p:sp>
          <p:nvSpPr>
            <p:cNvPr id="1605411774" name="Parallelogram 276439405"/>
            <p:cNvSpPr/>
            <p:nvPr/>
          </p:nvSpPr>
          <p:spPr bwMode="auto">
            <a:xfrm rot="20145058" flipH="0" flipV="0">
              <a:off x="2042559" y="0"/>
              <a:ext cx="682621" cy="706435"/>
            </a:xfrm>
            <a:prstGeom prst="parallelogram">
              <a:avLst>
                <a:gd name="adj" fmla="val 48056"/>
              </a:avLst>
            </a:prstGeom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/>
                <a:t>5</a:t>
              </a:r>
              <a:endParaRPr/>
            </a:p>
          </p:txBody>
        </p:sp>
        <p:cxnSp>
          <p:nvCxnSpPr>
            <p:cNvPr id="502385227" name=""/>
            <p:cNvCxnSpPr/>
            <p:nvPr/>
          </p:nvCxnSpPr>
          <p:spPr bwMode="auto">
            <a:xfrm flipH="1" flipV="0">
              <a:off x="380791" y="815446"/>
              <a:ext cx="348436" cy="695448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492234" name=""/>
            <p:cNvCxnSpPr/>
            <p:nvPr/>
          </p:nvCxnSpPr>
          <p:spPr bwMode="auto">
            <a:xfrm rot="10799956" flipH="0" flipV="0">
              <a:off x="603041" y="2049552"/>
              <a:ext cx="1881186" cy="360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13722" name=""/>
            <p:cNvCxnSpPr/>
            <p:nvPr/>
          </p:nvCxnSpPr>
          <p:spPr bwMode="auto">
            <a:xfrm rot="5399943" flipH="0" flipV="1">
              <a:off x="2317746" y="981929"/>
              <a:ext cx="626652" cy="293686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587215" name=""/>
            <p:cNvCxnSpPr/>
            <p:nvPr/>
          </p:nvCxnSpPr>
          <p:spPr bwMode="auto">
            <a:xfrm flipH="0" flipV="0">
              <a:off x="1015791" y="815446"/>
              <a:ext cx="333373" cy="393432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464972" name=""/>
            <p:cNvCxnSpPr/>
            <p:nvPr/>
          </p:nvCxnSpPr>
          <p:spPr bwMode="auto">
            <a:xfrm rot="5399943" flipH="0" flipV="0">
              <a:off x="1889673" y="842235"/>
              <a:ext cx="359032" cy="374253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11021" name=""/>
            <p:cNvCxnSpPr/>
            <p:nvPr/>
          </p:nvCxnSpPr>
          <p:spPr bwMode="auto">
            <a:xfrm flipH="0" flipV="0">
              <a:off x="920541" y="878537"/>
              <a:ext cx="1563687" cy="1031873"/>
            </a:xfrm>
            <a:prstGeom prst="bentConnector5">
              <a:avLst>
                <a:gd name="adj1" fmla="val 0"/>
                <a:gd name="adj2" fmla="val 100000"/>
                <a:gd name="adj3" fmla="val 50000"/>
              </a:avLst>
            </a:prstGeom>
            <a:ln w="9525" cap="flat" cmpd="sng" algn="ctr">
              <a:solidFill>
                <a:srgbClr val="7030A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626299" name=""/>
            <p:cNvCxnSpPr/>
            <p:nvPr/>
          </p:nvCxnSpPr>
          <p:spPr bwMode="auto">
            <a:xfrm flipH="1" flipV="0">
              <a:off x="603041" y="1030937"/>
              <a:ext cx="1722436" cy="950000"/>
            </a:xfrm>
            <a:prstGeom prst="bentConnector5">
              <a:avLst>
                <a:gd name="adj1" fmla="val 0"/>
                <a:gd name="adj2" fmla="val 100000"/>
                <a:gd name="adj3" fmla="val 50000"/>
              </a:avLst>
            </a:prstGeom>
            <a:ln w="9525" cap="flat" cmpd="sng" algn="ctr">
              <a:solidFill>
                <a:srgbClr val="7030A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504366" name=""/>
            <p:cNvCxnSpPr/>
            <p:nvPr/>
          </p:nvCxnSpPr>
          <p:spPr bwMode="auto">
            <a:xfrm flipH="1" flipV="0">
              <a:off x="1758396" y="1012163"/>
              <a:ext cx="528948" cy="572810"/>
            </a:xfrm>
            <a:prstGeom prst="bentConnector5">
              <a:avLst>
                <a:gd name="adj1" fmla="val 0"/>
                <a:gd name="adj2" fmla="val 100000"/>
                <a:gd name="adj3" fmla="val 50000"/>
              </a:avLst>
            </a:prstGeom>
            <a:ln w="9525" cap="flat" cmpd="sng" algn="ctr">
              <a:solidFill>
                <a:srgbClr val="7030A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985588" name=""/>
            <p:cNvCxnSpPr/>
            <p:nvPr/>
          </p:nvCxnSpPr>
          <p:spPr bwMode="auto">
            <a:xfrm rot="10799956" flipH="0" flipV="0">
              <a:off x="1266183" y="353217"/>
              <a:ext cx="856890" cy="0"/>
            </a:xfrm>
            <a:prstGeom prst="line">
              <a:avLst/>
            </a:prstGeom>
            <a:ln w="9525" cap="flat" cmpd="sng" algn="ctr">
              <a:solidFill>
                <a:srgbClr val="7030A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119091" name=""/>
            <p:cNvCxnSpPr/>
            <p:nvPr/>
          </p:nvCxnSpPr>
          <p:spPr bwMode="auto">
            <a:xfrm rot="5399943" flipH="0" flipV="0">
              <a:off x="679662" y="1235454"/>
              <a:ext cx="598338" cy="751576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3819270" name=""/>
            <p:cNvCxnSpPr/>
            <p:nvPr/>
          </p:nvCxnSpPr>
          <p:spPr bwMode="auto">
            <a:xfrm flipH="0" flipV="0">
              <a:off x="1884361" y="1314180"/>
              <a:ext cx="599866" cy="540669"/>
            </a:xfrm>
            <a:prstGeom prst="line">
              <a:avLst/>
            </a:prstGeom>
            <a:ln w="9525" cap="flat" cmpd="sng" algn="ctr">
              <a:solidFill>
                <a:srgbClr val="FF0000"/>
              </a:solidFill>
              <a:prstDash val="solid"/>
              <a:tailEnd type="arrow" len="me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7132706" name=""/>
          <p:cNvSpPr txBox="1"/>
          <p:nvPr/>
        </p:nvSpPr>
        <p:spPr bwMode="auto">
          <a:xfrm rot="0" flipH="0" flipV="0">
            <a:off x="9603" y="3787773"/>
            <a:ext cx="4015845" cy="2620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POC</a:t>
            </a:r>
            <a:r>
              <a:rPr lang="en-US" sz="1100"/>
              <a:t>:	</a:t>
            </a:r>
            <a:r>
              <a:rPr lang="en-US" sz="1100">
                <a:latin typeface="Ubuntu Mono"/>
                <a:ea typeface="Ubuntu Mono"/>
                <a:cs typeface="Ubuntu Mono"/>
              </a:rPr>
              <a:t>0</a:t>
            </a:r>
            <a:r>
              <a:rPr lang="en-US" sz="1100">
                <a:latin typeface="Ubuntu Mono"/>
                <a:ea typeface="Ubuntu Mono"/>
                <a:cs typeface="Ubuntu Mono"/>
              </a:rPr>
              <a:t>       1       2         3      4 </a:t>
            </a:r>
            <a:endParaRPr sz="1100">
              <a:latin typeface="Ubuntu Mono"/>
              <a:cs typeface="Ubuntu Mono"/>
            </a:endParaRPr>
          </a:p>
        </p:txBody>
      </p:sp>
      <p:grpSp>
        <p:nvGrpSpPr>
          <p:cNvPr id="296392642" name=""/>
          <p:cNvGrpSpPr/>
          <p:nvPr/>
        </p:nvGrpSpPr>
        <p:grpSpPr bwMode="auto">
          <a:xfrm>
            <a:off x="4573585" y="2020999"/>
            <a:ext cx="2468865" cy="706435"/>
            <a:chOff x="0" y="0"/>
            <a:chExt cx="2468865" cy="706435"/>
          </a:xfrm>
        </p:grpSpPr>
        <p:sp>
          <p:nvSpPr>
            <p:cNvPr id="1942304117" name="Parallelogram 276439405"/>
            <p:cNvSpPr/>
            <p:nvPr/>
          </p:nvSpPr>
          <p:spPr bwMode="auto">
            <a:xfrm rot="20145058" flipH="0" flipV="0">
              <a:off x="0" y="0"/>
              <a:ext cx="682621" cy="706435"/>
            </a:xfrm>
            <a:prstGeom prst="parallelogram">
              <a:avLst>
                <a:gd name="adj" fmla="val 48056"/>
              </a:avLst>
            </a:prstGeom>
            <a:ln w="25400" cap="flat" cmpd="sng" algn="ctr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/>
                <a:t>4</a:t>
              </a:r>
              <a:endParaRPr/>
            </a:p>
          </p:txBody>
        </p:sp>
        <p:sp>
          <p:nvSpPr>
            <p:cNvPr id="2108772656" name=""/>
            <p:cNvSpPr txBox="1"/>
            <p:nvPr/>
          </p:nvSpPr>
          <p:spPr bwMode="auto">
            <a:xfrm rot="0" flipH="0" flipV="0">
              <a:off x="689787" y="219558"/>
              <a:ext cx="1779077" cy="2594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1100"/>
                <a:t>ALTREF</a:t>
              </a:r>
              <a:r>
                <a:rPr lang="en-US" sz="1100"/>
                <a:t>?</a:t>
              </a:r>
              <a:r>
                <a:rPr lang="en-US" sz="1100"/>
                <a:t> overlay?</a:t>
              </a:r>
              <a:endParaRPr lang="en-US" sz="1100"/>
            </a:p>
          </p:txBody>
        </p:sp>
      </p:grpSp>
      <p:sp>
        <p:nvSpPr>
          <p:cNvPr id="341941557" name=""/>
          <p:cNvSpPr txBox="1"/>
          <p:nvPr/>
        </p:nvSpPr>
        <p:spPr bwMode="auto">
          <a:xfrm rot="0" flipH="0" flipV="0">
            <a:off x="9603" y="5248273"/>
            <a:ext cx="1725867" cy="2642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/>
              <a:t>svtav</a:t>
            </a:r>
            <a:r>
              <a:rPr lang="en-US" sz="1100"/>
              <a:t>1v200剪枝前:</a:t>
            </a:r>
            <a:endParaRPr sz="1100"/>
          </a:p>
        </p:txBody>
      </p:sp>
      <p:sp>
        <p:nvSpPr>
          <p:cNvPr id="615004429" name=""/>
          <p:cNvSpPr txBox="1"/>
          <p:nvPr/>
        </p:nvSpPr>
        <p:spPr bwMode="auto">
          <a:xfrm rot="0" flipH="0" flipV="0">
            <a:off x="1431217" y="4577533"/>
            <a:ext cx="7613232" cy="1707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tid=0 ::: {base2, base0, LAST, LAST, base2, base1, BWD} = {0, 1, 2}</a:t>
            </a:r>
            <a:endParaRPr lang="en-US" sz="1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US" sz="1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US" sz="1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lay0_toggle:1</a:t>
            </a:r>
            <a:r>
              <a:rPr lang="en-US" sz="14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::: {base0_idx, base1_idx, base2_idx} = {1, 2, 0}</a:t>
            </a:r>
            <a:endParaRPr lang="en-US" sz="1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US" sz="1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US" sz="1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lay0_toggle:?</a:t>
            </a:r>
            <a:r>
              <a:rPr lang="en-US" sz="14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::: {base0_idx, base1_idx, base2_idx} = {2, 0, 1}</a:t>
            </a:r>
            <a:endParaRPr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endParaRPr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endParaRPr sz="1200">
              <a:latin typeface="Ubuntu Mono"/>
              <a:ea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322270" name="Shape 1026"/>
          <p:cNvSpPr>
            <a:spLocks noChangeShapeType="1" noGrp="1"/>
          </p:cNvSpPr>
          <p:nvPr>
            <p:ph type="title"/>
          </p:nvPr>
        </p:nvSpPr>
        <p:spPr bwMode="auto">
          <a:xfrm>
            <a:off x="4514598" y="154318"/>
            <a:ext cx="4636325" cy="751550"/>
          </a:xfrm>
          <a:prstGeom prst="rect">
            <a:avLst/>
          </a:prstGeom>
          <a:noFill/>
        </p:spPr>
        <p:txBody>
          <a:bodyPr/>
          <a:lstStyle>
            <a:lvl1pPr algn="r">
              <a:defRPr sz="2600">
                <a:solidFill>
                  <a:srgbClr val="A16614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algn="r">
              <a:defRPr/>
            </a:lvl6pPr>
            <a:lvl7pPr algn="r">
              <a:defRPr/>
            </a:lvl7pPr>
            <a:lvl8pPr algn="r">
              <a:defRPr/>
            </a:lvl8pPr>
            <a:lvl9pPr algn="r">
              <a:defRPr/>
            </a:lvl9pPr>
          </a:lstStyle>
          <a:p>
            <a:pPr>
              <a:defRPr/>
            </a:pPr>
            <a:r>
              <a:rPr lang="zh-CN" sz="1600" b="0" i="0" u="none" strike="noStrike" cap="none" spc="0">
                <a:solidFill>
                  <a:srgbClr val="A16614"/>
                </a:solidFill>
                <a:latin typeface="Ubuntu Mono"/>
                <a:ea typeface="Ubuntu Mono"/>
                <a:cs typeface="Ubuntu Mono"/>
              </a:rPr>
              <a:t>svtav</a:t>
            </a:r>
            <a:r>
              <a:rPr lang="en-US" sz="1600" b="0" i="0" u="none" strike="noStrike" cap="none" spc="0">
                <a:solidFill>
                  <a:srgbClr val="A16614"/>
                </a:solidFill>
                <a:latin typeface="Ubuntu Mono"/>
                <a:ea typeface="Ubuntu Mono"/>
                <a:cs typeface="Ubuntu Mono"/>
              </a:rPr>
              <a:t>1v200剪枝前</a:t>
            </a:r>
            <a:endParaRPr/>
          </a:p>
        </p:txBody>
      </p:sp>
      <p:sp>
        <p:nvSpPr>
          <p:cNvPr id="644834828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3"/>
            <a:ext cx="2133598" cy="476248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9CF31A2E-C2ED-936D-92D0-A78C0A3DEB09}" type="datetime1">
              <a:rPr lang="en-US"/>
              <a:t/>
            </a:fld>
            <a:endParaRPr lang="en-US"/>
          </a:p>
        </p:txBody>
      </p:sp>
      <p:sp>
        <p:nvSpPr>
          <p:cNvPr id="538348819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198" y="6245223"/>
            <a:ext cx="2133598" cy="476248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8F2C1A18-5C22-E155-EDB1-E4C58884E40A}" type="slidenum">
              <a:rPr sz="1400"/>
              <a:t/>
            </a:fld>
            <a:endParaRPr sz="1400"/>
          </a:p>
        </p:txBody>
      </p:sp>
      <p:sp>
        <p:nvSpPr>
          <p:cNvPr id="377638594" name="Shape 1026"/>
          <p:cNvSpPr>
            <a:spLocks noChangeShapeType="1" noGrp="1"/>
          </p:cNvSpPr>
          <p:nvPr/>
        </p:nvSpPr>
        <p:spPr bwMode="auto">
          <a:xfrm>
            <a:off x="730856" y="266431"/>
            <a:ext cx="2660188" cy="42629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1400">
                <a:solidFill>
                  <a:srgbClr val="F79400"/>
                </a:solidFill>
                <a:latin typeface="+mj-lt"/>
                <a:ea typeface="+mj-ea"/>
                <a:cs typeface="+mj-cs"/>
              </a:defRPr>
            </a:lvl1pPr>
            <a:lvl2pPr algn="l">
              <a:defRPr sz="2600">
                <a:solidFill>
                  <a:srgbClr val="F79400"/>
                </a:solidFill>
              </a:defRPr>
            </a:lvl2pPr>
            <a:lvl3pPr algn="l">
              <a:defRPr sz="2600">
                <a:solidFill>
                  <a:srgbClr val="F79400"/>
                </a:solidFill>
              </a:defRPr>
            </a:lvl3pPr>
            <a:lvl4pPr algn="l">
              <a:defRPr sz="2600">
                <a:solidFill>
                  <a:srgbClr val="F79400"/>
                </a:solidFill>
              </a:defRPr>
            </a:lvl4pPr>
            <a:lvl5pPr algn="l">
              <a:defRPr sz="2600">
                <a:solidFill>
                  <a:srgbClr val="F79400"/>
                </a:solidFill>
              </a:defRPr>
            </a:lvl5pPr>
            <a:lvl6pPr algn="l">
              <a:defRPr sz="1200">
                <a:solidFill>
                  <a:srgbClr val="F79400"/>
                </a:solidFill>
              </a:defRPr>
            </a:lvl6pPr>
            <a:lvl7pPr algn="l">
              <a:defRPr sz="1200">
                <a:solidFill>
                  <a:srgbClr val="F79400"/>
                </a:solidFill>
              </a:defRPr>
            </a:lvl7pPr>
            <a:lvl8pPr algn="l">
              <a:defRPr sz="1200">
                <a:solidFill>
                  <a:srgbClr val="F79400"/>
                </a:solidFill>
              </a:defRPr>
            </a:lvl8pPr>
            <a:lvl9pPr algn="l">
              <a:defRPr sz="1200">
                <a:solidFill>
                  <a:srgbClr val="F79400"/>
                </a:solidFill>
              </a:defRPr>
            </a:lvl9pPr>
          </a:lstStyle>
          <a:p>
            <a:pPr>
              <a:defRPr/>
            </a:pPr>
            <a:r>
              <a:rPr lang="en-US"/>
              <a:t>Av1 DPB管理</a:t>
            </a:r>
            <a:endParaRPr/>
          </a:p>
        </p:txBody>
      </p:sp>
      <p:sp>
        <p:nvSpPr>
          <p:cNvPr id="1267576684" name="Text Box 1446733672"/>
          <p:cNvSpPr txBox="1"/>
          <p:nvPr/>
        </p:nvSpPr>
        <p:spPr bwMode="auto">
          <a:xfrm flipH="0" flipV="0">
            <a:off x="1962261" y="326997"/>
            <a:ext cx="142950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400" i="1">
                <a:solidFill>
                  <a:srgbClr val="FF0000"/>
                </a:solidFill>
                <a:latin typeface="Ubuntu Mono"/>
                <a:ea typeface="Ubuntu Mono"/>
                <a:cs typeface="Ubuntu Mono"/>
              </a:rPr>
              <a:t>hier_lv = 2</a:t>
            </a:r>
            <a:endParaRPr sz="1400" i="1">
              <a:solidFill>
                <a:srgbClr val="FF0000"/>
              </a:solidFill>
              <a:latin typeface="Ubuntu Mono"/>
              <a:cs typeface="Ubuntu Mono"/>
            </a:endParaRPr>
          </a:p>
        </p:txBody>
      </p:sp>
      <p:sp>
        <p:nvSpPr>
          <p:cNvPr id="1852849016" name=""/>
          <p:cNvSpPr txBox="1"/>
          <p:nvPr/>
        </p:nvSpPr>
        <p:spPr bwMode="auto">
          <a:xfrm rot="0" flipH="0" flipV="0">
            <a:off x="116354" y="1321764"/>
            <a:ext cx="68204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tid=0 </a:t>
            </a:r>
            <a:endParaRPr lang="en-US" sz="1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sz="1200">
              <a:latin typeface="Ubuntu Mono"/>
              <a:ea typeface="Ubuntu Mono"/>
              <a:cs typeface="Ubuntu Mono"/>
            </a:endParaRPr>
          </a:p>
        </p:txBody>
      </p:sp>
      <p:sp>
        <p:nvSpPr>
          <p:cNvPr id="981915031" name=""/>
          <p:cNvSpPr txBox="1"/>
          <p:nvPr/>
        </p:nvSpPr>
        <p:spPr bwMode="auto">
          <a:xfrm rot="0" flipH="0" flipV="0">
            <a:off x="730856" y="805951"/>
            <a:ext cx="2489610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ref_dpb_idx</a:t>
            </a:r>
            <a:r>
              <a:rPr lang="en-US" sz="1200">
                <a:latin typeface="Ubuntu Mono"/>
                <a:ea typeface="Ubuntu Mono"/>
                <a:cs typeface="Ubuntu Mono"/>
              </a:rPr>
              <a:t>={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LAST: base2,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LAST2:base0,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LAST3:LAST,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GOLD: LAST,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BWD:  base2,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ALT2: base1,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ALT:  BWD</a:t>
            </a:r>
            <a:r>
              <a:rPr lang="en-US" sz="1200">
                <a:latin typeface="Ubuntu Mono"/>
                <a:ea typeface="Ubuntu Mono"/>
                <a:cs typeface="Ubuntu Mono"/>
              </a:rPr>
              <a:t>	    }</a:t>
            </a:r>
            <a:endParaRPr lang="en-US" sz="1200">
              <a:latin typeface="Ubuntu Mono"/>
              <a:ea typeface="Ubuntu Mono"/>
              <a:cs typeface="Ubuntu Mono"/>
            </a:endParaRPr>
          </a:p>
        </p:txBody>
      </p:sp>
      <p:grpSp>
        <p:nvGrpSpPr>
          <p:cNvPr id="923292626" name=""/>
          <p:cNvGrpSpPr/>
          <p:nvPr/>
        </p:nvGrpSpPr>
        <p:grpSpPr bwMode="auto">
          <a:xfrm>
            <a:off x="4275651" y="372978"/>
            <a:ext cx="1149275" cy="1990806"/>
            <a:chOff x="0" y="0"/>
            <a:chExt cx="1149275" cy="1990806"/>
          </a:xfrm>
        </p:grpSpPr>
        <p:sp>
          <p:nvSpPr>
            <p:cNvPr id="2083988542" name=""/>
            <p:cNvSpPr/>
            <p:nvPr/>
          </p:nvSpPr>
          <p:spPr bwMode="auto">
            <a:xfrm rot="0" flipH="0" flipV="0">
              <a:off x="0" y="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Base0</a:t>
              </a: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(old)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658109753" name=""/>
            <p:cNvSpPr/>
            <p:nvPr/>
          </p:nvSpPr>
          <p:spPr bwMode="auto">
            <a:xfrm rot="0" flipH="0" flipV="0">
              <a:off x="0" y="24885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Base1</a:t>
              </a: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(mid)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327855726" name=""/>
            <p:cNvSpPr/>
            <p:nvPr/>
          </p:nvSpPr>
          <p:spPr bwMode="auto">
            <a:xfrm rot="0" flipH="0" flipV="0">
              <a:off x="0" y="49770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Base2(new)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2079910626" name=""/>
            <p:cNvSpPr/>
            <p:nvPr/>
          </p:nvSpPr>
          <p:spPr bwMode="auto">
            <a:xfrm rot="0" flipH="0" flipV="0">
              <a:off x="0" y="746551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sz="1200">
                  <a:solidFill>
                    <a:schemeClr val="tx1"/>
                  </a:solidFill>
                  <a:latin typeface="Ubuntu Mono"/>
                  <a:cs typeface="Ubuntu Mono"/>
                </a:rPr>
                <a:t>Lay</a:t>
              </a: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10(old)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611700575" name=""/>
            <p:cNvSpPr/>
            <p:nvPr/>
          </p:nvSpPr>
          <p:spPr bwMode="auto">
            <a:xfrm rot="0" flipH="0" flipV="0">
              <a:off x="0" y="995402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Lay11(new)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778259996" name=""/>
            <p:cNvSpPr/>
            <p:nvPr/>
          </p:nvSpPr>
          <p:spPr bwMode="auto">
            <a:xfrm rot="0" flipH="0" flipV="0">
              <a:off x="0" y="124425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sz="1200">
                  <a:solidFill>
                    <a:schemeClr val="tx1"/>
                  </a:solidFill>
                  <a:latin typeface="Ubuntu Mono"/>
                  <a:cs typeface="Ubuntu Mono"/>
                </a:rPr>
                <a:t>Lay</a:t>
              </a: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2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588303213" name=""/>
            <p:cNvSpPr/>
            <p:nvPr/>
          </p:nvSpPr>
          <p:spPr bwMode="auto">
            <a:xfrm rot="0" flipH="0" flipV="0">
              <a:off x="0" y="149310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231056904" name=""/>
            <p:cNvSpPr/>
            <p:nvPr/>
          </p:nvSpPr>
          <p:spPr bwMode="auto">
            <a:xfrm rot="0" flipH="0" flipV="0">
              <a:off x="0" y="1741955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</p:grpSp>
      <p:cxnSp>
        <p:nvCxnSpPr>
          <p:cNvPr id="566230802" name=""/>
          <p:cNvCxnSpPr/>
          <p:nvPr/>
        </p:nvCxnSpPr>
        <p:spPr bwMode="auto">
          <a:xfrm rot="10799956" flipH="0" flipV="1">
            <a:off x="2961498" y="995104"/>
            <a:ext cx="1314151" cy="155829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1341955" name=""/>
          <p:cNvCxnSpPr/>
          <p:nvPr/>
        </p:nvCxnSpPr>
        <p:spPr bwMode="auto">
          <a:xfrm rot="10799956" flipH="0" flipV="1">
            <a:off x="2977373" y="497403"/>
            <a:ext cx="1298275" cy="828157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841595" name=""/>
          <p:cNvCxnSpPr/>
          <p:nvPr/>
        </p:nvCxnSpPr>
        <p:spPr bwMode="auto">
          <a:xfrm rot="10799956" flipH="0" flipV="1">
            <a:off x="3001186" y="995104"/>
            <a:ext cx="1274464" cy="886080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3345062" name=""/>
          <p:cNvCxnSpPr/>
          <p:nvPr/>
        </p:nvCxnSpPr>
        <p:spPr bwMode="auto">
          <a:xfrm rot="10799956" flipH="0" flipV="1">
            <a:off x="3001186" y="746253"/>
            <a:ext cx="1274464" cy="1309556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5006" name=""/>
          <p:cNvCxnSpPr/>
          <p:nvPr/>
        </p:nvCxnSpPr>
        <p:spPr bwMode="auto">
          <a:xfrm flipH="1" flipV="0">
            <a:off x="1741028" y="1127124"/>
            <a:ext cx="45720" cy="389279"/>
          </a:xfrm>
          <a:prstGeom prst="curvedConnector3">
            <a:avLst>
              <a:gd name="adj1" fmla="val 399305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762549" name=""/>
          <p:cNvCxnSpPr/>
          <p:nvPr/>
        </p:nvCxnSpPr>
        <p:spPr bwMode="auto">
          <a:xfrm flipH="1" flipV="0">
            <a:off x="1763888" y="1143128"/>
            <a:ext cx="45720" cy="563431"/>
          </a:xfrm>
          <a:prstGeom prst="curvedConnector3">
            <a:avLst>
              <a:gd name="adj1" fmla="val 399305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0097373" name=""/>
          <p:cNvCxnSpPr/>
          <p:nvPr/>
        </p:nvCxnSpPr>
        <p:spPr bwMode="auto">
          <a:xfrm flipH="0" flipV="0">
            <a:off x="1735470" y="1813239"/>
            <a:ext cx="51277" cy="401320"/>
          </a:xfrm>
          <a:prstGeom prst="curvedConnector3">
            <a:avLst>
              <a:gd name="adj1" fmla="val -178622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051435" name=""/>
          <p:cNvSpPr txBox="1"/>
          <p:nvPr/>
        </p:nvSpPr>
        <p:spPr bwMode="auto">
          <a:xfrm rot="0" flipH="0" flipV="0">
            <a:off x="201206" y="3276472"/>
            <a:ext cx="68276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tid=1 </a:t>
            </a:r>
            <a:endParaRPr lang="en-US" sz="1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sz="1200">
              <a:latin typeface="Ubuntu Mono"/>
              <a:ea typeface="Ubuntu Mono"/>
              <a:cs typeface="Ubuntu Mono"/>
            </a:endParaRPr>
          </a:p>
        </p:txBody>
      </p:sp>
      <p:sp>
        <p:nvSpPr>
          <p:cNvPr id="1295278133" name=""/>
          <p:cNvSpPr txBox="1"/>
          <p:nvPr/>
        </p:nvSpPr>
        <p:spPr bwMode="auto">
          <a:xfrm rot="0" flipH="0" flipV="0">
            <a:off x="815708" y="2760660"/>
            <a:ext cx="2501490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ref_dpb_idx</a:t>
            </a:r>
            <a:r>
              <a:rPr lang="en-US" sz="1200">
                <a:latin typeface="Ubuntu Mono"/>
                <a:ea typeface="Ubuntu Mono"/>
                <a:cs typeface="Ubuntu Mono"/>
              </a:rPr>
              <a:t>={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LAST: base1,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LAST2:lay11,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LAST3:base0,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GOLD: LAST,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BWD:  base2,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ALT2: BWD,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ALT:  BWD</a:t>
            </a:r>
            <a:r>
              <a:rPr lang="en-US" sz="1200">
                <a:latin typeface="Ubuntu Mono"/>
                <a:ea typeface="Ubuntu Mono"/>
                <a:cs typeface="Ubuntu Mono"/>
              </a:rPr>
              <a:t>	    }</a:t>
            </a:r>
            <a:endParaRPr lang="en-US" sz="1200">
              <a:latin typeface="Ubuntu Mono"/>
              <a:ea typeface="Ubuntu Mono"/>
              <a:cs typeface="Ubuntu Mono"/>
            </a:endParaRPr>
          </a:p>
        </p:txBody>
      </p:sp>
      <p:grpSp>
        <p:nvGrpSpPr>
          <p:cNvPr id="407063257" name=""/>
          <p:cNvGrpSpPr/>
          <p:nvPr/>
        </p:nvGrpSpPr>
        <p:grpSpPr bwMode="auto">
          <a:xfrm>
            <a:off x="4278781" y="2689059"/>
            <a:ext cx="1149275" cy="1990806"/>
            <a:chOff x="0" y="0"/>
            <a:chExt cx="1149275" cy="1990806"/>
          </a:xfrm>
        </p:grpSpPr>
        <p:sp>
          <p:nvSpPr>
            <p:cNvPr id="1421035044" name=""/>
            <p:cNvSpPr/>
            <p:nvPr/>
          </p:nvSpPr>
          <p:spPr bwMode="auto">
            <a:xfrm rot="0" flipH="0" flipV="0">
              <a:off x="0" y="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rgbClr val="7030A0"/>
                  </a:solidFill>
                  <a:latin typeface="Ubuntu Mono"/>
                  <a:ea typeface="Ubuntu Mono"/>
                  <a:cs typeface="Ubuntu Mono"/>
                </a:rPr>
                <a:t>Base2</a:t>
              </a:r>
              <a:r>
                <a:rPr lang="en-US" sz="1200">
                  <a:solidFill>
                    <a:srgbClr val="7030A0"/>
                  </a:solidFill>
                  <a:latin typeface="Ubuntu Mono"/>
                  <a:cs typeface="Ubuntu Mono"/>
                </a:rPr>
                <a:t>(new)</a:t>
              </a:r>
              <a:endParaRPr sz="1200">
                <a:solidFill>
                  <a:srgbClr val="7030A0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562656901" name=""/>
            <p:cNvSpPr/>
            <p:nvPr/>
          </p:nvSpPr>
          <p:spPr bwMode="auto">
            <a:xfrm rot="0" flipH="0" flipV="0">
              <a:off x="0" y="24885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rgbClr val="7030A0"/>
                  </a:solidFill>
                  <a:latin typeface="Ubuntu Mono"/>
                  <a:ea typeface="Ubuntu Mono"/>
                  <a:cs typeface="Ubuntu Mono"/>
                </a:rPr>
                <a:t>Base0</a:t>
              </a:r>
              <a:r>
                <a:rPr lang="en-US" sz="1200">
                  <a:solidFill>
                    <a:srgbClr val="7030A0"/>
                  </a:solidFill>
                  <a:latin typeface="Ubuntu Mono"/>
                  <a:cs typeface="Ubuntu Mono"/>
                </a:rPr>
                <a:t>(old)</a:t>
              </a:r>
              <a:endParaRPr sz="1200">
                <a:solidFill>
                  <a:srgbClr val="7030A0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2113629991" name=""/>
            <p:cNvSpPr/>
            <p:nvPr/>
          </p:nvSpPr>
          <p:spPr bwMode="auto">
            <a:xfrm rot="0" flipH="0" flipV="0">
              <a:off x="0" y="49770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rgbClr val="7030A0"/>
                  </a:solidFill>
                  <a:latin typeface="Ubuntu Mono"/>
                  <a:ea typeface="Ubuntu Mono"/>
                  <a:cs typeface="Ubuntu Mono"/>
                </a:rPr>
                <a:t>Base1</a:t>
              </a:r>
              <a:r>
                <a:rPr lang="en-US" sz="1200">
                  <a:solidFill>
                    <a:srgbClr val="7030A0"/>
                  </a:solidFill>
                  <a:latin typeface="Ubuntu Mono"/>
                  <a:cs typeface="Ubuntu Mono"/>
                </a:rPr>
                <a:t>(mid)</a:t>
              </a:r>
              <a:endParaRPr sz="1200">
                <a:solidFill>
                  <a:srgbClr val="7030A0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230111768" name=""/>
            <p:cNvSpPr/>
            <p:nvPr/>
          </p:nvSpPr>
          <p:spPr bwMode="auto">
            <a:xfrm rot="0" flipH="0" flipV="0">
              <a:off x="0" y="746551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zh-CN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Lay</a:t>
              </a: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10(old)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992930339" name=""/>
            <p:cNvSpPr/>
            <p:nvPr/>
          </p:nvSpPr>
          <p:spPr bwMode="auto">
            <a:xfrm rot="0" flipH="0" flipV="0">
              <a:off x="0" y="995402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>
                  <a:solidFill>
                    <a:schemeClr val="tx1"/>
                  </a:solidFill>
                  <a:latin typeface="Ubuntu Mono"/>
                  <a:cs typeface="Ubuntu Mono"/>
                </a:rPr>
                <a:t>Lay11(new)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259705232" name=""/>
            <p:cNvSpPr/>
            <p:nvPr/>
          </p:nvSpPr>
          <p:spPr bwMode="auto">
            <a:xfrm rot="0" flipH="0" flipV="0">
              <a:off x="0" y="124425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zh-CN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Lay</a:t>
              </a: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2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729492052" name=""/>
            <p:cNvSpPr/>
            <p:nvPr/>
          </p:nvSpPr>
          <p:spPr bwMode="auto">
            <a:xfrm rot="0" flipH="0" flipV="0">
              <a:off x="0" y="149310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43543634" name=""/>
            <p:cNvSpPr/>
            <p:nvPr/>
          </p:nvSpPr>
          <p:spPr bwMode="auto">
            <a:xfrm rot="0" flipH="0" flipV="0">
              <a:off x="0" y="1741955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</p:grpSp>
      <p:cxnSp>
        <p:nvCxnSpPr>
          <p:cNvPr id="363640325" name=""/>
          <p:cNvCxnSpPr/>
          <p:nvPr/>
        </p:nvCxnSpPr>
        <p:spPr bwMode="auto">
          <a:xfrm rot="10799956" flipH="0" flipV="0">
            <a:off x="3001186" y="3103561"/>
            <a:ext cx="1277595" cy="207624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3298398" name=""/>
          <p:cNvCxnSpPr/>
          <p:nvPr/>
        </p:nvCxnSpPr>
        <p:spPr bwMode="auto">
          <a:xfrm rot="10799956" flipH="0" flipV="1">
            <a:off x="3064686" y="3062335"/>
            <a:ext cx="1214094" cy="414286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168204" name=""/>
          <p:cNvCxnSpPr/>
          <p:nvPr/>
        </p:nvCxnSpPr>
        <p:spPr bwMode="auto">
          <a:xfrm rot="10799956" flipH="0" flipV="0">
            <a:off x="3040873" y="3301999"/>
            <a:ext cx="1237906" cy="506885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5398203" name=""/>
          <p:cNvCxnSpPr/>
          <p:nvPr/>
        </p:nvCxnSpPr>
        <p:spPr bwMode="auto">
          <a:xfrm rot="10799956" flipH="0" flipV="1">
            <a:off x="3072623" y="2813484"/>
            <a:ext cx="1206156" cy="1012387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8413699" name=""/>
          <p:cNvCxnSpPr/>
          <p:nvPr/>
        </p:nvCxnSpPr>
        <p:spPr bwMode="auto">
          <a:xfrm flipH="1" flipV="0">
            <a:off x="1824849" y="3103561"/>
            <a:ext cx="45720" cy="521501"/>
          </a:xfrm>
          <a:prstGeom prst="curvedConnector3">
            <a:avLst>
              <a:gd name="adj1" fmla="val 366069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3809850" name=""/>
          <p:cNvCxnSpPr/>
          <p:nvPr/>
        </p:nvCxnSpPr>
        <p:spPr bwMode="auto">
          <a:xfrm flipH="1" flipV="0">
            <a:off x="1824849" y="3825873"/>
            <a:ext cx="45720" cy="185963"/>
          </a:xfrm>
          <a:prstGeom prst="curvedConnector3">
            <a:avLst>
              <a:gd name="adj1" fmla="val 399361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7527657" name=""/>
          <p:cNvCxnSpPr/>
          <p:nvPr/>
        </p:nvCxnSpPr>
        <p:spPr bwMode="auto">
          <a:xfrm flipH="1" flipV="0">
            <a:off x="1824849" y="3825873"/>
            <a:ext cx="45720" cy="371927"/>
          </a:xfrm>
          <a:prstGeom prst="curvedConnector3">
            <a:avLst>
              <a:gd name="adj1" fmla="val 565277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3218858" name=""/>
          <p:cNvSpPr txBox="1"/>
          <p:nvPr/>
        </p:nvSpPr>
        <p:spPr bwMode="auto">
          <a:xfrm rot="0" flipH="0" flipV="0">
            <a:off x="211060" y="5323896"/>
            <a:ext cx="68348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Ubuntu Mono"/>
                <a:ea typeface="Ubuntu Mono"/>
                <a:cs typeface="Ubuntu Mono"/>
              </a:rPr>
              <a:t>tid=2 </a:t>
            </a:r>
            <a:endParaRPr lang="en-US" sz="10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sz="1200">
              <a:latin typeface="Ubuntu Mono"/>
              <a:ea typeface="Ubuntu Mono"/>
              <a:cs typeface="Ubuntu Mono"/>
            </a:endParaRPr>
          </a:p>
        </p:txBody>
      </p:sp>
      <p:sp>
        <p:nvSpPr>
          <p:cNvPr id="1494624512" name=""/>
          <p:cNvSpPr txBox="1"/>
          <p:nvPr/>
        </p:nvSpPr>
        <p:spPr bwMode="auto">
          <a:xfrm rot="0" flipH="0" flipV="0">
            <a:off x="825561" y="4808081"/>
            <a:ext cx="2514448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(0 in miniGOP)ref_dpb_idx</a:t>
            </a:r>
            <a:r>
              <a:rPr lang="en-US" sz="1200">
                <a:latin typeface="Ubuntu Mono"/>
                <a:ea typeface="Ubuntu Mono"/>
                <a:cs typeface="Ubuntu Mono"/>
              </a:rPr>
              <a:t>={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LAST: base1,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LAST2:lay10,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LAST3:base0,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GOLD: LAST,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BWD:  lay11,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ALT2: base2,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	 ALT:  BWD</a:t>
            </a:r>
            <a:r>
              <a:rPr lang="en-US" sz="1200">
                <a:latin typeface="Ubuntu Mono"/>
                <a:ea typeface="Ubuntu Mono"/>
                <a:cs typeface="Ubuntu Mono"/>
              </a:rPr>
              <a:t>	    }</a:t>
            </a:r>
            <a:endParaRPr lang="en-US" sz="1200">
              <a:latin typeface="Ubuntu Mono"/>
              <a:ea typeface="Ubuntu Mono"/>
              <a:cs typeface="Ubuntu Mono"/>
            </a:endParaRPr>
          </a:p>
        </p:txBody>
      </p:sp>
      <p:cxnSp>
        <p:nvCxnSpPr>
          <p:cNvPr id="75077804" name=""/>
          <p:cNvCxnSpPr/>
          <p:nvPr/>
        </p:nvCxnSpPr>
        <p:spPr bwMode="auto">
          <a:xfrm rot="10799956" flipH="0" flipV="0">
            <a:off x="3011040" y="5150983"/>
            <a:ext cx="1271417" cy="293544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1043397" name=""/>
          <p:cNvCxnSpPr/>
          <p:nvPr/>
        </p:nvCxnSpPr>
        <p:spPr bwMode="auto">
          <a:xfrm rot="10799956" flipH="0" flipV="1">
            <a:off x="3074539" y="5195678"/>
            <a:ext cx="1207917" cy="328365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3747737" name=""/>
          <p:cNvCxnSpPr/>
          <p:nvPr/>
        </p:nvCxnSpPr>
        <p:spPr bwMode="auto">
          <a:xfrm rot="10799956" flipH="0" flipV="0">
            <a:off x="3050726" y="5349421"/>
            <a:ext cx="1231731" cy="592808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953825" name=""/>
          <p:cNvCxnSpPr/>
          <p:nvPr/>
        </p:nvCxnSpPr>
        <p:spPr bwMode="auto">
          <a:xfrm rot="10799956" flipH="0" flipV="1">
            <a:off x="3082476" y="5693380"/>
            <a:ext cx="1199979" cy="179914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883525" name=""/>
          <p:cNvCxnSpPr/>
          <p:nvPr/>
        </p:nvCxnSpPr>
        <p:spPr bwMode="auto">
          <a:xfrm flipH="1" flipV="0">
            <a:off x="1834702" y="5150983"/>
            <a:ext cx="45720" cy="521500"/>
          </a:xfrm>
          <a:prstGeom prst="curvedConnector3">
            <a:avLst>
              <a:gd name="adj1" fmla="val 366069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2960215" name=""/>
          <p:cNvCxnSpPr/>
          <p:nvPr/>
        </p:nvCxnSpPr>
        <p:spPr bwMode="auto">
          <a:xfrm flipH="1" flipV="0">
            <a:off x="1834702" y="5873295"/>
            <a:ext cx="45720" cy="371926"/>
          </a:xfrm>
          <a:prstGeom prst="curvedConnector3">
            <a:avLst>
              <a:gd name="adj1" fmla="val 399361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0263333" name=""/>
          <p:cNvGrpSpPr/>
          <p:nvPr/>
        </p:nvGrpSpPr>
        <p:grpSpPr bwMode="auto">
          <a:xfrm>
            <a:off x="4282458" y="4822404"/>
            <a:ext cx="1149275" cy="1990806"/>
            <a:chOff x="0" y="0"/>
            <a:chExt cx="1149275" cy="1990806"/>
          </a:xfrm>
        </p:grpSpPr>
        <p:sp>
          <p:nvSpPr>
            <p:cNvPr id="721387403" name=""/>
            <p:cNvSpPr/>
            <p:nvPr/>
          </p:nvSpPr>
          <p:spPr bwMode="auto">
            <a:xfrm rot="0" flipH="0" flipV="0">
              <a:off x="0" y="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Base2</a:t>
              </a: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(new)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456202050" name=""/>
            <p:cNvSpPr/>
            <p:nvPr/>
          </p:nvSpPr>
          <p:spPr bwMode="auto">
            <a:xfrm rot="0" flipH="0" flipV="0">
              <a:off x="0" y="24885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Base0</a:t>
              </a: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(old)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12246233" name=""/>
            <p:cNvSpPr/>
            <p:nvPr/>
          </p:nvSpPr>
          <p:spPr bwMode="auto">
            <a:xfrm rot="0" flipH="0" flipV="0">
              <a:off x="0" y="497700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Base1</a:t>
              </a: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(mid)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04710054" name=""/>
            <p:cNvSpPr/>
            <p:nvPr/>
          </p:nvSpPr>
          <p:spPr bwMode="auto">
            <a:xfrm rot="0" flipH="0" flipV="0">
              <a:off x="0" y="746551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zh-CN" sz="1200" b="0" i="0" u="none" strike="noStrike" cap="none" spc="0">
                  <a:solidFill>
                    <a:srgbClr val="7030A0"/>
                  </a:solidFill>
                  <a:latin typeface="Ubuntu Mono"/>
                  <a:ea typeface="Ubuntu Mono"/>
                  <a:cs typeface="Ubuntu Mono"/>
                </a:rPr>
                <a:t>Lay</a:t>
              </a:r>
              <a:r>
                <a:rPr lang="en-US" sz="1200" b="0" i="0" u="none" strike="noStrike" cap="none" spc="0">
                  <a:solidFill>
                    <a:srgbClr val="7030A0"/>
                  </a:solidFill>
                  <a:latin typeface="Ubuntu Mono"/>
                  <a:ea typeface="Ubuntu Mono"/>
                  <a:cs typeface="Ubuntu Mono"/>
                </a:rPr>
                <a:t>11(new)</a:t>
              </a:r>
              <a:endParaRPr sz="1200">
                <a:solidFill>
                  <a:srgbClr val="7030A0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55483958" name=""/>
            <p:cNvSpPr/>
            <p:nvPr/>
          </p:nvSpPr>
          <p:spPr bwMode="auto">
            <a:xfrm rot="0" flipH="0" flipV="0">
              <a:off x="0" y="995402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en-US" sz="1200" b="0" i="0" u="none" strike="noStrike" cap="none" spc="0">
                  <a:solidFill>
                    <a:srgbClr val="7030A0"/>
                  </a:solidFill>
                  <a:latin typeface="Ubuntu Mono"/>
                  <a:ea typeface="Ubuntu Mono"/>
                  <a:cs typeface="Ubuntu Mono"/>
                </a:rPr>
                <a:t>Lay10(old)</a:t>
              </a:r>
              <a:endParaRPr sz="1200">
                <a:solidFill>
                  <a:srgbClr val="7030A0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373048137" name=""/>
            <p:cNvSpPr/>
            <p:nvPr/>
          </p:nvSpPr>
          <p:spPr bwMode="auto">
            <a:xfrm rot="0" flipH="0" flipV="0">
              <a:off x="0" y="124425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lang="zh-CN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Lay</a:t>
              </a:r>
              <a:r>
                <a:rPr lang="en-US" sz="1200" b="0" i="0" u="none" strike="noStrike" cap="none" spc="0">
                  <a:solidFill>
                    <a:schemeClr val="tx1"/>
                  </a:solidFill>
                  <a:latin typeface="Ubuntu Mono"/>
                  <a:ea typeface="Ubuntu Mono"/>
                  <a:cs typeface="Ubuntu Mono"/>
                </a:rPr>
                <a:t>2</a:t>
              </a: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706987396" name=""/>
            <p:cNvSpPr/>
            <p:nvPr/>
          </p:nvSpPr>
          <p:spPr bwMode="auto">
            <a:xfrm rot="0" flipH="0" flipV="0">
              <a:off x="0" y="1493103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  <p:sp>
          <p:nvSpPr>
            <p:cNvPr id="1116893726" name=""/>
            <p:cNvSpPr/>
            <p:nvPr/>
          </p:nvSpPr>
          <p:spPr bwMode="auto">
            <a:xfrm rot="0" flipH="0" flipV="0">
              <a:off x="0" y="1741955"/>
              <a:ext cx="1149275" cy="248850"/>
            </a:xfrm>
            <a:prstGeom prst="rect">
              <a:avLst/>
            </a:prstGeom>
            <a:ln w="6349" cap="flat" cmpd="sng" algn="ctr">
              <a:solidFill>
                <a:schemeClr val="accent1">
                  <a:lumMod val="50196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sz="1200">
                <a:solidFill>
                  <a:schemeClr val="tx1"/>
                </a:solidFill>
                <a:latin typeface="Ubuntu Mono"/>
                <a:cs typeface="Ubuntu Mono"/>
              </a:endParaRPr>
            </a:p>
          </p:txBody>
        </p:sp>
      </p:grpSp>
      <p:sp>
        <p:nvSpPr>
          <p:cNvPr id="1454674285" name=""/>
          <p:cNvSpPr txBox="1"/>
          <p:nvPr/>
        </p:nvSpPr>
        <p:spPr bwMode="auto">
          <a:xfrm rot="0" flipH="0" flipV="0">
            <a:off x="6357552" y="4635498"/>
            <a:ext cx="2536410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(2 in miniGOP)ref_dpb_idx</a:t>
            </a:r>
            <a:r>
              <a:rPr lang="en-US" sz="1200">
                <a:latin typeface="Ubuntu Mono"/>
                <a:ea typeface="Ubuntu Mono"/>
                <a:cs typeface="Ubuntu Mono"/>
              </a:rPr>
              <a:t>={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LAST: lay11,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LAST2:base1,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LAST3:lay2,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GOLD: LAST,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BWD:  base2,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ALT2: BWD,</a:t>
            </a:r>
            <a:endParaRPr lang="en-US" sz="1200">
              <a:latin typeface="Ubuntu Mono"/>
              <a:ea typeface="Ubuntu Mono"/>
              <a:cs typeface="Ubuntu Mono"/>
            </a:endParaRPr>
          </a:p>
          <a:p>
            <a:pPr algn="l">
              <a:defRPr/>
            </a:pPr>
            <a:r>
              <a:rPr lang="en-US" sz="1200">
                <a:latin typeface="Ubuntu Mono"/>
                <a:ea typeface="Ubuntu Mono"/>
                <a:cs typeface="Ubuntu Mono"/>
              </a:rPr>
              <a:t>ALT:  BWD</a:t>
            </a:r>
            <a:r>
              <a:rPr lang="en-US" sz="1200">
                <a:latin typeface="Ubuntu Mono"/>
                <a:ea typeface="Ubuntu Mono"/>
                <a:cs typeface="Ubuntu Mono"/>
              </a:rPr>
              <a:t>	    }</a:t>
            </a:r>
            <a:endParaRPr lang="en-US" sz="1200">
              <a:latin typeface="Ubuntu Mono"/>
              <a:ea typeface="Ubuntu Mono"/>
              <a:cs typeface="Ubuntu Mono"/>
            </a:endParaRPr>
          </a:p>
        </p:txBody>
      </p:sp>
      <p:cxnSp>
        <p:nvCxnSpPr>
          <p:cNvPr id="1569717504" name=""/>
          <p:cNvCxnSpPr/>
          <p:nvPr/>
        </p:nvCxnSpPr>
        <p:spPr bwMode="auto">
          <a:xfrm rot="0" flipH="0" flipV="1">
            <a:off x="5431735" y="5504358"/>
            <a:ext cx="925815" cy="686724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384821" name=""/>
          <p:cNvCxnSpPr/>
          <p:nvPr/>
        </p:nvCxnSpPr>
        <p:spPr bwMode="auto">
          <a:xfrm rot="0" flipH="0" flipV="1">
            <a:off x="5431733" y="5341934"/>
            <a:ext cx="927011" cy="102593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682012" name=""/>
          <p:cNvCxnSpPr/>
          <p:nvPr/>
        </p:nvCxnSpPr>
        <p:spPr bwMode="auto">
          <a:xfrm rot="0" flipH="0" flipV="0">
            <a:off x="5431733" y="4946828"/>
            <a:ext cx="950824" cy="934855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153760" name=""/>
          <p:cNvCxnSpPr/>
          <p:nvPr/>
        </p:nvCxnSpPr>
        <p:spPr bwMode="auto">
          <a:xfrm rot="0" flipH="0" flipV="1">
            <a:off x="5431733" y="5135562"/>
            <a:ext cx="934949" cy="557818"/>
          </a:xfrm>
          <a:prstGeom prst="line">
            <a:avLst/>
          </a:prstGeom>
          <a:ln w="9525" cap="flat" cmpd="sng" algn="ctr">
            <a:solidFill>
              <a:srgbClr val="FFC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820180" name=""/>
          <p:cNvCxnSpPr/>
          <p:nvPr/>
        </p:nvCxnSpPr>
        <p:spPr bwMode="auto">
          <a:xfrm flipH="0" flipV="0">
            <a:off x="7517623" y="5150983"/>
            <a:ext cx="45720" cy="521500"/>
          </a:xfrm>
          <a:prstGeom prst="curvedConnector3">
            <a:avLst>
              <a:gd name="adj1" fmla="val 366069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633783" name=""/>
          <p:cNvCxnSpPr/>
          <p:nvPr/>
        </p:nvCxnSpPr>
        <p:spPr bwMode="auto">
          <a:xfrm flipH="1" flipV="0">
            <a:off x="7446186" y="5873295"/>
            <a:ext cx="117156" cy="238576"/>
          </a:xfrm>
          <a:prstGeom prst="curvedConnector3">
            <a:avLst>
              <a:gd name="adj1" fmla="val -137127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8402861" name=""/>
          <p:cNvCxnSpPr/>
          <p:nvPr/>
        </p:nvCxnSpPr>
        <p:spPr bwMode="auto">
          <a:xfrm flipH="1" flipV="0">
            <a:off x="7504764" y="5881686"/>
            <a:ext cx="48099" cy="382585"/>
          </a:xfrm>
          <a:prstGeom prst="curvedConnector3">
            <a:avLst>
              <a:gd name="adj1" fmla="val -137127"/>
            </a:avLst>
          </a:prstGeom>
          <a:ln w="9525" cap="flat" cmpd="sng" algn="ctr">
            <a:solidFill>
              <a:srgbClr val="C00000"/>
            </a:solidFill>
            <a:prstDash val="solid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1256743" name=""/>
          <p:cNvSpPr txBox="1"/>
          <p:nvPr/>
        </p:nvSpPr>
        <p:spPr bwMode="auto">
          <a:xfrm rot="0" flipH="0" flipV="0">
            <a:off x="5871150" y="1474164"/>
            <a:ext cx="3106855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lay0_toggle </a:t>
            </a:r>
            <a:r>
              <a:rPr lang="en-US" sz="1400" b="1" i="1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SHIFT</a:t>
            </a:r>
            <a:endParaRPr lang="en-US" sz="1400" b="1" i="0" u="none" strike="noStrike" cap="none" spc="0">
              <a:solidFill>
                <a:srgbClr val="7030A0"/>
              </a:solidFill>
              <a:latin typeface="Ubuntu Mono"/>
              <a:ea typeface="Ubuntu Mono"/>
              <a:cs typeface="Ubuntu Mono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refresh_frame_mask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endParaRPr lang="en-US" sz="1400" i="0" u="none" strike="noStrike" cap="none" spc="0">
              <a:solidFill>
                <a:srgbClr val="7030A0"/>
              </a:solidFill>
              <a:latin typeface="Ubuntu Mono"/>
              <a:ea typeface="Ubuntu Mono"/>
              <a:cs typeface="Ubuntu Mono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&lt;&lt;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ctx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-&gt;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lay0_toggle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;</a:t>
            </a:r>
            <a:endParaRPr sz="1000" b="0" i="0" u="none" strike="noStrike" cap="none" spc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sp>
        <p:nvSpPr>
          <p:cNvPr id="1208224791" name=""/>
          <p:cNvSpPr txBox="1"/>
          <p:nvPr/>
        </p:nvSpPr>
        <p:spPr bwMode="auto">
          <a:xfrm rot="0" flipH="0" flipV="0">
            <a:off x="5871150" y="3459350"/>
            <a:ext cx="3283371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lay1_toggle </a:t>
            </a:r>
            <a:r>
              <a:rPr lang="en-US" sz="1400" b="1" i="1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SHIFT</a:t>
            </a:r>
            <a:endParaRPr lang="en-US" sz="1400" b="1" i="0" u="none" strike="noStrike" cap="none" spc="0">
              <a:solidFill>
                <a:srgbClr val="7030A0"/>
              </a:solidFill>
              <a:latin typeface="Ubuntu Mono"/>
              <a:ea typeface="Ubuntu Mono"/>
              <a:cs typeface="Ubuntu Mono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refresh_frame_mask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endParaRPr lang="en-US" sz="1400" i="0" u="none" strike="noStrike" cap="none" spc="0">
              <a:solidFill>
                <a:srgbClr val="7030A0"/>
              </a:solidFill>
              <a:latin typeface="Ubuntu Mono"/>
              <a:ea typeface="Ubuntu Mono"/>
              <a:cs typeface="Ubuntu Mono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&lt;&lt;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(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3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+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lay1_toggle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)</a:t>
            </a:r>
            <a:endParaRPr sz="1000" b="0" i="0" u="none" strike="noStrike" cap="none" spc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sp>
        <p:nvSpPr>
          <p:cNvPr id="1684189038" name=""/>
          <p:cNvSpPr/>
          <p:nvPr/>
        </p:nvSpPr>
        <p:spPr bwMode="auto">
          <a:xfrm rot="0" flipH="0" flipV="0">
            <a:off x="5620491" y="1522302"/>
            <a:ext cx="250656" cy="208881"/>
          </a:xfrm>
          <a:prstGeom prst="rightArrow">
            <a:avLst>
              <a:gd name="adj1" fmla="val 50000"/>
              <a:gd name="adj2" fmla="val 50000"/>
            </a:avLst>
          </a:prstGeom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6517189" name=""/>
          <p:cNvSpPr/>
          <p:nvPr/>
        </p:nvSpPr>
        <p:spPr bwMode="auto">
          <a:xfrm rot="0" flipH="0" flipV="0">
            <a:off x="5620491" y="3507489"/>
            <a:ext cx="250655" cy="208881"/>
          </a:xfrm>
          <a:prstGeom prst="rightArrow">
            <a:avLst>
              <a:gd name="adj1" fmla="val 50000"/>
              <a:gd name="adj2" fmla="val 50000"/>
            </a:avLst>
          </a:prstGeom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118528" name=""/>
          <p:cNvSpPr txBox="1"/>
          <p:nvPr/>
        </p:nvSpPr>
        <p:spPr bwMode="auto">
          <a:xfrm rot="0" flipH="0" flipV="0">
            <a:off x="6109219" y="6373216"/>
            <a:ext cx="328697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refresh_frame_mask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lang="en-US" sz="140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endParaRPr lang="en-US" sz="1400" i="0" u="none" strike="noStrike" cap="none" spc="0">
              <a:solidFill>
                <a:srgbClr val="7030A0"/>
              </a:solidFill>
              <a:latin typeface="Ubuntu Mono"/>
              <a:ea typeface="Ubuntu Mono"/>
              <a:cs typeface="Ubuntu Mono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is_ref</a:t>
            </a: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?</a:t>
            </a: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&lt;&lt;</a:t>
            </a: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 (</a:t>
            </a: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lay2_idx</a:t>
            </a: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)</a:t>
            </a:r>
            <a:r>
              <a:rPr lang="en-US" sz="1400" b="0" i="0" u="none" strike="noStrike" cap="none" spc="0">
                <a:solidFill>
                  <a:srgbClr val="7030A0"/>
                </a:solidFill>
                <a:latin typeface="Ubuntu Mono"/>
                <a:ea typeface="Ubuntu Mono"/>
                <a:cs typeface="Ubuntu Mono"/>
              </a:rPr>
              <a:t>:0</a:t>
            </a:r>
            <a:endParaRPr sz="1000" b="0" i="0" u="none" strike="noStrike" cap="none" spc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sp>
        <p:nvSpPr>
          <p:cNvPr id="1607453263" name=""/>
          <p:cNvSpPr/>
          <p:nvPr/>
        </p:nvSpPr>
        <p:spPr bwMode="auto">
          <a:xfrm rot="0" flipH="0" flipV="0">
            <a:off x="5656489" y="6617031"/>
            <a:ext cx="250655" cy="208881"/>
          </a:xfrm>
          <a:prstGeom prst="rightArrow">
            <a:avLst>
              <a:gd name="adj1" fmla="val 50000"/>
              <a:gd name="adj2" fmla="val 50000"/>
            </a:avLst>
          </a:prstGeom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2025-12-09T09:04:43Z</dcterms:modified>
</cp:coreProperties>
</file>